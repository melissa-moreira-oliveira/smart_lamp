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" charset="1" panose="00000500000000000000"/>
      <p:regular r:id="rId22"/>
    </p:embeddedFont>
    <p:embeddedFont>
      <p:font typeface="Poppins Bold" charset="1" panose="00000800000000000000"/>
      <p:regular r:id="rId23"/>
    </p:embeddedFont>
    <p:embeddedFont>
      <p:font typeface="Glock Grotesk 2.0" charset="1" panose="00000000000000000000"/>
      <p:regular r:id="rId24"/>
    </p:embeddedFont>
    <p:embeddedFont>
      <p:font typeface="Canva Sans" charset="1" panose="020B0503030501040103"/>
      <p:regular r:id="rId25"/>
    </p:embeddedFont>
    <p:embeddedFont>
      <p:font typeface="Poppins Semi-Bold" charset="1" panose="000007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11" Target="../media/image51.png" Type="http://schemas.openxmlformats.org/officeDocument/2006/relationships/image"/><Relationship Id="rId12" Target="../media/image5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48.jpe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5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youtube.com/watch?v=CipKNWwoO5Q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jetir.org/papers/JETIR2408497.pdf" TargetMode="External" Type="http://schemas.openxmlformats.org/officeDocument/2006/relationships/hyperlink"/><Relationship Id="rId3" Target="https://www.jetir.org/papers/JETIR2408497.pdf" TargetMode="External" Type="http://schemas.openxmlformats.org/officeDocument/2006/relationships/hyperlink"/><Relationship Id="rId4" Target="https://www.jetir.org/papers/JETIR2408497.pdf" TargetMode="External" Type="http://schemas.openxmlformats.org/officeDocument/2006/relationships/hyperlink"/><Relationship Id="rId5" Target="https://www.grandviewresearch.com/industry-analysis/global-smart-lighting-marke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229" y="1028700"/>
            <a:ext cx="5715106" cy="5715106"/>
          </a:xfrm>
          <a:custGeom>
            <a:avLst/>
            <a:gdLst/>
            <a:ahLst/>
            <a:cxnLst/>
            <a:rect r="r" b="b" t="t" l="l"/>
            <a:pathLst>
              <a:path h="5715106" w="5715106">
                <a:moveTo>
                  <a:pt x="0" y="0"/>
                </a:moveTo>
                <a:lnTo>
                  <a:pt x="5715106" y="0"/>
                </a:lnTo>
                <a:lnTo>
                  <a:pt x="5715106" y="5715106"/>
                </a:lnTo>
                <a:lnTo>
                  <a:pt x="0" y="5715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591100" y="-2400260"/>
            <a:ext cx="5715106" cy="5715106"/>
          </a:xfrm>
          <a:custGeom>
            <a:avLst/>
            <a:gdLst/>
            <a:ahLst/>
            <a:cxnLst/>
            <a:rect r="r" b="b" t="t" l="l"/>
            <a:pathLst>
              <a:path h="5715106" w="5715106">
                <a:moveTo>
                  <a:pt x="0" y="0"/>
                </a:moveTo>
                <a:lnTo>
                  <a:pt x="5715106" y="0"/>
                </a:lnTo>
                <a:lnTo>
                  <a:pt x="5715106" y="5715106"/>
                </a:lnTo>
                <a:lnTo>
                  <a:pt x="0" y="5715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733620" y="701146"/>
            <a:ext cx="12205915" cy="3794930"/>
          </a:xfrm>
          <a:custGeom>
            <a:avLst/>
            <a:gdLst/>
            <a:ahLst/>
            <a:cxnLst/>
            <a:rect r="r" b="b" t="t" l="l"/>
            <a:pathLst>
              <a:path h="3794930" w="12205915">
                <a:moveTo>
                  <a:pt x="0" y="0"/>
                </a:moveTo>
                <a:lnTo>
                  <a:pt x="12205915" y="0"/>
                </a:lnTo>
                <a:lnTo>
                  <a:pt x="12205915" y="3794930"/>
                </a:lnTo>
                <a:lnTo>
                  <a:pt x="0" y="3794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036865" y="1641409"/>
            <a:ext cx="6179500" cy="6600956"/>
            <a:chOff x="0" y="0"/>
            <a:chExt cx="1124862" cy="1201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4862" cy="1201581"/>
            </a:xfrm>
            <a:custGeom>
              <a:avLst/>
              <a:gdLst/>
              <a:ahLst/>
              <a:cxnLst/>
              <a:rect r="r" b="b" t="t" l="l"/>
              <a:pathLst>
                <a:path h="1201581" w="1124862">
                  <a:moveTo>
                    <a:pt x="56378" y="0"/>
                  </a:moveTo>
                  <a:lnTo>
                    <a:pt x="1068485" y="0"/>
                  </a:lnTo>
                  <a:cubicBezTo>
                    <a:pt x="1099621" y="0"/>
                    <a:pt x="1124862" y="25241"/>
                    <a:pt x="1124862" y="56378"/>
                  </a:cubicBezTo>
                  <a:lnTo>
                    <a:pt x="1124862" y="1145203"/>
                  </a:lnTo>
                  <a:cubicBezTo>
                    <a:pt x="1124862" y="1176339"/>
                    <a:pt x="1099621" y="1201581"/>
                    <a:pt x="1068485" y="1201581"/>
                  </a:cubicBezTo>
                  <a:lnTo>
                    <a:pt x="56378" y="1201581"/>
                  </a:lnTo>
                  <a:cubicBezTo>
                    <a:pt x="25241" y="1201581"/>
                    <a:pt x="0" y="1176339"/>
                    <a:pt x="0" y="1145203"/>
                  </a:cubicBezTo>
                  <a:lnTo>
                    <a:pt x="0" y="56378"/>
                  </a:lnTo>
                  <a:cubicBezTo>
                    <a:pt x="0" y="25241"/>
                    <a:pt x="25241" y="0"/>
                    <a:pt x="5637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0123" r="0" b="-2012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030782" y="9010476"/>
            <a:ext cx="882051" cy="882051"/>
            <a:chOff x="0" y="0"/>
            <a:chExt cx="1176068" cy="117606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76068" cy="1176068"/>
              <a:chOff x="0" y="0"/>
              <a:chExt cx="453567" cy="4535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53567" cy="453567"/>
              </a:xfrm>
              <a:custGeom>
                <a:avLst/>
                <a:gdLst/>
                <a:ahLst/>
                <a:cxnLst/>
                <a:rect r="r" b="b" t="t" l="l"/>
                <a:pathLst>
                  <a:path h="453567" w="453567">
                    <a:moveTo>
                      <a:pt x="226784" y="0"/>
                    </a:moveTo>
                    <a:lnTo>
                      <a:pt x="226784" y="0"/>
                    </a:lnTo>
                    <a:cubicBezTo>
                      <a:pt x="286930" y="0"/>
                      <a:pt x="344614" y="23893"/>
                      <a:pt x="387144" y="66423"/>
                    </a:cubicBezTo>
                    <a:cubicBezTo>
                      <a:pt x="429674" y="108954"/>
                      <a:pt x="453567" y="166637"/>
                      <a:pt x="453567" y="226784"/>
                    </a:cubicBezTo>
                    <a:lnTo>
                      <a:pt x="453567" y="226784"/>
                    </a:lnTo>
                    <a:cubicBezTo>
                      <a:pt x="453567" y="286930"/>
                      <a:pt x="429674" y="344614"/>
                      <a:pt x="387144" y="387144"/>
                    </a:cubicBezTo>
                    <a:cubicBezTo>
                      <a:pt x="344614" y="429674"/>
                      <a:pt x="286930" y="453567"/>
                      <a:pt x="226784" y="453567"/>
                    </a:cubicBezTo>
                    <a:lnTo>
                      <a:pt x="226784" y="453567"/>
                    </a:lnTo>
                    <a:cubicBezTo>
                      <a:pt x="166637" y="453567"/>
                      <a:pt x="108954" y="429674"/>
                      <a:pt x="66423" y="387144"/>
                    </a:cubicBezTo>
                    <a:cubicBezTo>
                      <a:pt x="23893" y="344614"/>
                      <a:pt x="0" y="286930"/>
                      <a:pt x="0" y="226784"/>
                    </a:cubicBezTo>
                    <a:lnTo>
                      <a:pt x="0" y="226784"/>
                    </a:lnTo>
                    <a:cubicBezTo>
                      <a:pt x="0" y="166637"/>
                      <a:pt x="23893" y="108954"/>
                      <a:pt x="66423" y="66423"/>
                    </a:cubicBezTo>
                    <a:cubicBezTo>
                      <a:pt x="108954" y="23893"/>
                      <a:pt x="166637" y="0"/>
                      <a:pt x="226784" y="0"/>
                    </a:cubicBezTo>
                    <a:close/>
                  </a:path>
                </a:pathLst>
              </a:custGeom>
              <a:solidFill>
                <a:srgbClr val="DDF41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453567" cy="5202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97957" y="197957"/>
              <a:ext cx="780155" cy="780155"/>
            </a:xfrm>
            <a:custGeom>
              <a:avLst/>
              <a:gdLst/>
              <a:ahLst/>
              <a:cxnLst/>
              <a:rect r="r" b="b" t="t" l="l"/>
              <a:pathLst>
                <a:path h="780155" w="780155">
                  <a:moveTo>
                    <a:pt x="0" y="0"/>
                  </a:moveTo>
                  <a:lnTo>
                    <a:pt x="780155" y="0"/>
                  </a:lnTo>
                  <a:lnTo>
                    <a:pt x="780155" y="780155"/>
                  </a:lnTo>
                  <a:lnTo>
                    <a:pt x="0" y="780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950412" y="4749246"/>
            <a:ext cx="1355794" cy="1233928"/>
          </a:xfrm>
          <a:custGeom>
            <a:avLst/>
            <a:gdLst/>
            <a:ahLst/>
            <a:cxnLst/>
            <a:rect r="r" b="b" t="t" l="l"/>
            <a:pathLst>
              <a:path h="1233928" w="1355794">
                <a:moveTo>
                  <a:pt x="0" y="0"/>
                </a:moveTo>
                <a:lnTo>
                  <a:pt x="1355794" y="0"/>
                </a:lnTo>
                <a:lnTo>
                  <a:pt x="1355794" y="1233928"/>
                </a:lnTo>
                <a:lnTo>
                  <a:pt x="0" y="12339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157999" b="-198322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533850" y="8621856"/>
            <a:ext cx="5278759" cy="777240"/>
            <a:chOff x="0" y="0"/>
            <a:chExt cx="7038345" cy="103632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3519173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Aluno(a):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19173" y="-66675"/>
              <a:ext cx="3519173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Melissa Moreira de Oliveira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759830" y="3269002"/>
            <a:ext cx="5548039" cy="254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sz="6399">
                <a:solidFill>
                  <a:srgbClr val="FFFFFF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Projeto de</a:t>
            </a:r>
          </a:p>
          <a:p>
            <a:pPr algn="l">
              <a:lnSpc>
                <a:spcPts val="6655"/>
              </a:lnSpc>
            </a:pPr>
            <a:r>
              <a:rPr lang="en-US" sz="6399">
                <a:solidFill>
                  <a:srgbClr val="FFFFFF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Lâmpada </a:t>
            </a:r>
          </a:p>
          <a:p>
            <a:pPr algn="l" marL="0" indent="0" lvl="0">
              <a:lnSpc>
                <a:spcPts val="6655"/>
              </a:lnSpc>
            </a:pPr>
            <a:r>
              <a:rPr lang="en-US" sz="6399">
                <a:solidFill>
                  <a:srgbClr val="FFFFFF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Inteligênte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59830" y="6233331"/>
            <a:ext cx="5747368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Sistemas Embarcados -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Automação de iluminação com ESP32, sensores PIR + LDR e controle remoto via web.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036865" y="8621856"/>
            <a:ext cx="1371588" cy="944080"/>
          </a:xfrm>
          <a:custGeom>
            <a:avLst/>
            <a:gdLst/>
            <a:ahLst/>
            <a:cxnLst/>
            <a:rect r="r" b="b" t="t" l="l"/>
            <a:pathLst>
              <a:path h="944080" w="1371588">
                <a:moveTo>
                  <a:pt x="0" y="0"/>
                </a:moveTo>
                <a:lnTo>
                  <a:pt x="1371588" y="0"/>
                </a:lnTo>
                <a:lnTo>
                  <a:pt x="1371588" y="944080"/>
                </a:lnTo>
                <a:lnTo>
                  <a:pt x="0" y="9440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539995" y="6577174"/>
            <a:ext cx="5438611" cy="3599371"/>
          </a:xfrm>
          <a:custGeom>
            <a:avLst/>
            <a:gdLst/>
            <a:ahLst/>
            <a:cxnLst/>
            <a:rect r="r" b="b" t="t" l="l"/>
            <a:pathLst>
              <a:path h="3599371" w="5438611">
                <a:moveTo>
                  <a:pt x="0" y="0"/>
                </a:moveTo>
                <a:lnTo>
                  <a:pt x="5438610" y="0"/>
                </a:lnTo>
                <a:lnTo>
                  <a:pt x="5438610" y="3599371"/>
                </a:lnTo>
                <a:lnTo>
                  <a:pt x="0" y="3599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02577" y="210543"/>
            <a:ext cx="5735927" cy="3796141"/>
          </a:xfrm>
          <a:custGeom>
            <a:avLst/>
            <a:gdLst/>
            <a:ahLst/>
            <a:cxnLst/>
            <a:rect r="r" b="b" t="t" l="l"/>
            <a:pathLst>
              <a:path h="3796141" w="5735927">
                <a:moveTo>
                  <a:pt x="0" y="0"/>
                </a:moveTo>
                <a:lnTo>
                  <a:pt x="5735927" y="0"/>
                </a:lnTo>
                <a:lnTo>
                  <a:pt x="5735927" y="3796141"/>
                </a:lnTo>
                <a:lnTo>
                  <a:pt x="0" y="379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1166" y="2010229"/>
            <a:ext cx="14336276" cy="6366630"/>
            <a:chOff x="0" y="0"/>
            <a:chExt cx="3467212" cy="1539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67212" cy="1539762"/>
            </a:xfrm>
            <a:custGeom>
              <a:avLst/>
              <a:gdLst/>
              <a:ahLst/>
              <a:cxnLst/>
              <a:rect r="r" b="b" t="t" l="l"/>
              <a:pathLst>
                <a:path h="1539762" w="3467212">
                  <a:moveTo>
                    <a:pt x="17281" y="0"/>
                  </a:moveTo>
                  <a:lnTo>
                    <a:pt x="3449931" y="0"/>
                  </a:lnTo>
                  <a:cubicBezTo>
                    <a:pt x="3459475" y="0"/>
                    <a:pt x="3467212" y="7737"/>
                    <a:pt x="3467212" y="17281"/>
                  </a:cubicBezTo>
                  <a:lnTo>
                    <a:pt x="3467212" y="1522481"/>
                  </a:lnTo>
                  <a:cubicBezTo>
                    <a:pt x="3467212" y="1532025"/>
                    <a:pt x="3459475" y="1539762"/>
                    <a:pt x="3449931" y="1539762"/>
                  </a:cubicBezTo>
                  <a:lnTo>
                    <a:pt x="17281" y="1539762"/>
                  </a:lnTo>
                  <a:cubicBezTo>
                    <a:pt x="7737" y="1539762"/>
                    <a:pt x="0" y="1532025"/>
                    <a:pt x="0" y="1522481"/>
                  </a:cubicBezTo>
                  <a:lnTo>
                    <a:pt x="0" y="17281"/>
                  </a:lnTo>
                  <a:cubicBezTo>
                    <a:pt x="0" y="7737"/>
                    <a:pt x="7737" y="0"/>
                    <a:pt x="17281" y="0"/>
                  </a:cubicBezTo>
                  <a:close/>
                </a:path>
              </a:pathLst>
            </a:custGeom>
            <a:solidFill>
              <a:srgbClr val="100F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3467212" cy="1606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95546" y="7851107"/>
            <a:ext cx="11804572" cy="103084"/>
            <a:chOff x="0" y="0"/>
            <a:chExt cx="3109023" cy="2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09023" cy="27150"/>
            </a:xfrm>
            <a:custGeom>
              <a:avLst/>
              <a:gdLst/>
              <a:ahLst/>
              <a:cxnLst/>
              <a:rect r="r" b="b" t="t" l="l"/>
              <a:pathLst>
                <a:path h="27150" w="3109023">
                  <a:moveTo>
                    <a:pt x="13575" y="0"/>
                  </a:moveTo>
                  <a:lnTo>
                    <a:pt x="3095448" y="0"/>
                  </a:lnTo>
                  <a:cubicBezTo>
                    <a:pt x="3099048" y="0"/>
                    <a:pt x="3102501" y="1430"/>
                    <a:pt x="3105047" y="3976"/>
                  </a:cubicBezTo>
                  <a:cubicBezTo>
                    <a:pt x="3107593" y="6522"/>
                    <a:pt x="3109023" y="9975"/>
                    <a:pt x="3109023" y="13575"/>
                  </a:cubicBezTo>
                  <a:lnTo>
                    <a:pt x="3109023" y="13575"/>
                  </a:lnTo>
                  <a:cubicBezTo>
                    <a:pt x="3109023" y="17175"/>
                    <a:pt x="3107593" y="20628"/>
                    <a:pt x="3105047" y="23174"/>
                  </a:cubicBezTo>
                  <a:cubicBezTo>
                    <a:pt x="3102501" y="25719"/>
                    <a:pt x="3099048" y="27150"/>
                    <a:pt x="3095448" y="27150"/>
                  </a:cubicBezTo>
                  <a:lnTo>
                    <a:pt x="13575" y="27150"/>
                  </a:lnTo>
                  <a:cubicBezTo>
                    <a:pt x="9975" y="27150"/>
                    <a:pt x="6522" y="25719"/>
                    <a:pt x="3976" y="23174"/>
                  </a:cubicBezTo>
                  <a:cubicBezTo>
                    <a:pt x="1430" y="20628"/>
                    <a:pt x="0" y="17175"/>
                    <a:pt x="0" y="13575"/>
                  </a:cubicBezTo>
                  <a:lnTo>
                    <a:pt x="0" y="13575"/>
                  </a:lnTo>
                  <a:cubicBezTo>
                    <a:pt x="0" y="9975"/>
                    <a:pt x="1430" y="6522"/>
                    <a:pt x="3976" y="3976"/>
                  </a:cubicBezTo>
                  <a:cubicBezTo>
                    <a:pt x="6522" y="1430"/>
                    <a:pt x="9975" y="0"/>
                    <a:pt x="13575" y="0"/>
                  </a:cubicBezTo>
                  <a:close/>
                </a:path>
              </a:pathLst>
            </a:custGeom>
            <a:solidFill>
              <a:srgbClr val="DDF41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3109023" cy="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893393">
            <a:off x="2681421" y="4911891"/>
            <a:ext cx="563307" cy="563307"/>
          </a:xfrm>
          <a:custGeom>
            <a:avLst/>
            <a:gdLst/>
            <a:ahLst/>
            <a:cxnLst/>
            <a:rect r="r" b="b" t="t" l="l"/>
            <a:pathLst>
              <a:path h="563307" w="563307">
                <a:moveTo>
                  <a:pt x="0" y="0"/>
                </a:moveTo>
                <a:lnTo>
                  <a:pt x="563307" y="0"/>
                </a:lnTo>
                <a:lnTo>
                  <a:pt x="563307" y="563307"/>
                </a:lnTo>
                <a:lnTo>
                  <a:pt x="0" y="56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893393">
            <a:off x="2681421" y="6254939"/>
            <a:ext cx="563307" cy="563307"/>
          </a:xfrm>
          <a:custGeom>
            <a:avLst/>
            <a:gdLst/>
            <a:ahLst/>
            <a:cxnLst/>
            <a:rect r="r" b="b" t="t" l="l"/>
            <a:pathLst>
              <a:path h="563307" w="563307">
                <a:moveTo>
                  <a:pt x="0" y="0"/>
                </a:moveTo>
                <a:lnTo>
                  <a:pt x="563307" y="0"/>
                </a:lnTo>
                <a:lnTo>
                  <a:pt x="563307" y="563307"/>
                </a:lnTo>
                <a:lnTo>
                  <a:pt x="0" y="56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893393">
            <a:off x="5845307" y="4911891"/>
            <a:ext cx="563307" cy="563307"/>
          </a:xfrm>
          <a:custGeom>
            <a:avLst/>
            <a:gdLst/>
            <a:ahLst/>
            <a:cxnLst/>
            <a:rect r="r" b="b" t="t" l="l"/>
            <a:pathLst>
              <a:path h="563307" w="563307">
                <a:moveTo>
                  <a:pt x="0" y="0"/>
                </a:moveTo>
                <a:lnTo>
                  <a:pt x="563307" y="0"/>
                </a:lnTo>
                <a:lnTo>
                  <a:pt x="563307" y="563307"/>
                </a:lnTo>
                <a:lnTo>
                  <a:pt x="0" y="56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893393">
            <a:off x="5845307" y="6254939"/>
            <a:ext cx="563307" cy="563307"/>
          </a:xfrm>
          <a:custGeom>
            <a:avLst/>
            <a:gdLst/>
            <a:ahLst/>
            <a:cxnLst/>
            <a:rect r="r" b="b" t="t" l="l"/>
            <a:pathLst>
              <a:path h="563307" w="563307">
                <a:moveTo>
                  <a:pt x="0" y="0"/>
                </a:moveTo>
                <a:lnTo>
                  <a:pt x="563307" y="0"/>
                </a:lnTo>
                <a:lnTo>
                  <a:pt x="563307" y="563307"/>
                </a:lnTo>
                <a:lnTo>
                  <a:pt x="0" y="56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33247" y="4835386"/>
            <a:ext cx="263938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Solução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2701" y="6111740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Interface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2893393">
            <a:off x="9009193" y="4911891"/>
            <a:ext cx="563307" cy="563307"/>
          </a:xfrm>
          <a:custGeom>
            <a:avLst/>
            <a:gdLst/>
            <a:ahLst/>
            <a:cxnLst/>
            <a:rect r="r" b="b" t="t" l="l"/>
            <a:pathLst>
              <a:path h="563307" w="563307">
                <a:moveTo>
                  <a:pt x="0" y="0"/>
                </a:moveTo>
                <a:lnTo>
                  <a:pt x="563307" y="0"/>
                </a:lnTo>
                <a:lnTo>
                  <a:pt x="563307" y="563307"/>
                </a:lnTo>
                <a:lnTo>
                  <a:pt x="0" y="56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893393">
            <a:off x="9009193" y="6254939"/>
            <a:ext cx="563307" cy="563307"/>
          </a:xfrm>
          <a:custGeom>
            <a:avLst/>
            <a:gdLst/>
            <a:ahLst/>
            <a:cxnLst/>
            <a:rect r="r" b="b" t="t" l="l"/>
            <a:pathLst>
              <a:path h="563307" w="563307">
                <a:moveTo>
                  <a:pt x="0" y="0"/>
                </a:moveTo>
                <a:lnTo>
                  <a:pt x="563307" y="0"/>
                </a:lnTo>
                <a:lnTo>
                  <a:pt x="563307" y="563307"/>
                </a:lnTo>
                <a:lnTo>
                  <a:pt x="0" y="56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893393">
            <a:off x="12173079" y="4911891"/>
            <a:ext cx="563307" cy="563307"/>
          </a:xfrm>
          <a:custGeom>
            <a:avLst/>
            <a:gdLst/>
            <a:ahLst/>
            <a:cxnLst/>
            <a:rect r="r" b="b" t="t" l="l"/>
            <a:pathLst>
              <a:path h="563307" w="563307">
                <a:moveTo>
                  <a:pt x="0" y="0"/>
                </a:moveTo>
                <a:lnTo>
                  <a:pt x="563308" y="0"/>
                </a:lnTo>
                <a:lnTo>
                  <a:pt x="563308" y="563307"/>
                </a:lnTo>
                <a:lnTo>
                  <a:pt x="0" y="56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2893393">
            <a:off x="12173079" y="6254939"/>
            <a:ext cx="563307" cy="563307"/>
          </a:xfrm>
          <a:custGeom>
            <a:avLst/>
            <a:gdLst/>
            <a:ahLst/>
            <a:cxnLst/>
            <a:rect r="r" b="b" t="t" l="l"/>
            <a:pathLst>
              <a:path h="563307" w="563307">
                <a:moveTo>
                  <a:pt x="0" y="0"/>
                </a:moveTo>
                <a:lnTo>
                  <a:pt x="563308" y="0"/>
                </a:lnTo>
                <a:lnTo>
                  <a:pt x="563308" y="563307"/>
                </a:lnTo>
                <a:lnTo>
                  <a:pt x="0" y="563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14839024" y="514181"/>
            <a:ext cx="314276" cy="1252549"/>
          </a:xfrm>
          <a:custGeom>
            <a:avLst/>
            <a:gdLst/>
            <a:ahLst/>
            <a:cxnLst/>
            <a:rect r="r" b="b" t="t" l="l"/>
            <a:pathLst>
              <a:path h="1252549" w="314276">
                <a:moveTo>
                  <a:pt x="0" y="0"/>
                </a:moveTo>
                <a:lnTo>
                  <a:pt x="314276" y="0"/>
                </a:lnTo>
                <a:lnTo>
                  <a:pt x="314276" y="1252548"/>
                </a:lnTo>
                <a:lnTo>
                  <a:pt x="0" y="12525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78908" y="3018171"/>
            <a:ext cx="10995592" cy="87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55"/>
              </a:lnSpc>
              <a:spcBef>
                <a:spcPct val="0"/>
              </a:spcBef>
            </a:pPr>
            <a:r>
              <a:rPr lang="en-US" sz="6399">
                <a:solidFill>
                  <a:srgbClr val="DDF410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Sumário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91468" y="4835386"/>
            <a:ext cx="174075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Problema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72701" y="4835386"/>
            <a:ext cx="208434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de Hardware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12156" y="4835386"/>
            <a:ext cx="231546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Hardware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91468" y="6111740"/>
            <a:ext cx="195205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Arq</a:t>
            </a: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uitetura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de Software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33247" y="6111740"/>
            <a:ext cx="145443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Firmware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12156" y="6111740"/>
            <a:ext cx="231546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Conclusão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7030782" y="9010476"/>
            <a:ext cx="882051" cy="882051"/>
            <a:chOff x="0" y="0"/>
            <a:chExt cx="1176068" cy="117606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176068" cy="1176068"/>
              <a:chOff x="0" y="0"/>
              <a:chExt cx="453567" cy="45356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53567" cy="453567"/>
              </a:xfrm>
              <a:custGeom>
                <a:avLst/>
                <a:gdLst/>
                <a:ahLst/>
                <a:cxnLst/>
                <a:rect r="r" b="b" t="t" l="l"/>
                <a:pathLst>
                  <a:path h="453567" w="453567">
                    <a:moveTo>
                      <a:pt x="226784" y="0"/>
                    </a:moveTo>
                    <a:lnTo>
                      <a:pt x="226784" y="0"/>
                    </a:lnTo>
                    <a:cubicBezTo>
                      <a:pt x="286930" y="0"/>
                      <a:pt x="344614" y="23893"/>
                      <a:pt x="387144" y="66423"/>
                    </a:cubicBezTo>
                    <a:cubicBezTo>
                      <a:pt x="429674" y="108954"/>
                      <a:pt x="453567" y="166637"/>
                      <a:pt x="453567" y="226784"/>
                    </a:cubicBezTo>
                    <a:lnTo>
                      <a:pt x="453567" y="226784"/>
                    </a:lnTo>
                    <a:cubicBezTo>
                      <a:pt x="453567" y="286930"/>
                      <a:pt x="429674" y="344614"/>
                      <a:pt x="387144" y="387144"/>
                    </a:cubicBezTo>
                    <a:cubicBezTo>
                      <a:pt x="344614" y="429674"/>
                      <a:pt x="286930" y="453567"/>
                      <a:pt x="226784" y="453567"/>
                    </a:cubicBezTo>
                    <a:lnTo>
                      <a:pt x="226784" y="453567"/>
                    </a:lnTo>
                    <a:cubicBezTo>
                      <a:pt x="166637" y="453567"/>
                      <a:pt x="108954" y="429674"/>
                      <a:pt x="66423" y="387144"/>
                    </a:cubicBezTo>
                    <a:cubicBezTo>
                      <a:pt x="23893" y="344614"/>
                      <a:pt x="0" y="286930"/>
                      <a:pt x="0" y="226784"/>
                    </a:cubicBezTo>
                    <a:lnTo>
                      <a:pt x="0" y="226784"/>
                    </a:lnTo>
                    <a:cubicBezTo>
                      <a:pt x="0" y="166637"/>
                      <a:pt x="23893" y="108954"/>
                      <a:pt x="66423" y="66423"/>
                    </a:cubicBezTo>
                    <a:cubicBezTo>
                      <a:pt x="108954" y="23893"/>
                      <a:pt x="166637" y="0"/>
                      <a:pt x="226784" y="0"/>
                    </a:cubicBezTo>
                    <a:close/>
                  </a:path>
                </a:pathLst>
              </a:custGeom>
              <a:solidFill>
                <a:srgbClr val="DDF41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66675"/>
                <a:ext cx="453567" cy="5202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97957" y="197957"/>
              <a:ext cx="780155" cy="780155"/>
            </a:xfrm>
            <a:custGeom>
              <a:avLst/>
              <a:gdLst/>
              <a:ahLst/>
              <a:cxnLst/>
              <a:rect r="r" b="b" t="t" l="l"/>
              <a:pathLst>
                <a:path h="780155" w="780155">
                  <a:moveTo>
                    <a:pt x="0" y="0"/>
                  </a:moveTo>
                  <a:lnTo>
                    <a:pt x="780155" y="0"/>
                  </a:lnTo>
                  <a:lnTo>
                    <a:pt x="780155" y="780155"/>
                  </a:lnTo>
                  <a:lnTo>
                    <a:pt x="0" y="780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1812" y="1340677"/>
            <a:ext cx="7527488" cy="3067484"/>
            <a:chOff x="0" y="0"/>
            <a:chExt cx="977592" cy="398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7592" cy="398373"/>
            </a:xfrm>
            <a:custGeom>
              <a:avLst/>
              <a:gdLst/>
              <a:ahLst/>
              <a:cxnLst/>
              <a:rect r="r" b="b" t="t" l="l"/>
              <a:pathLst>
                <a:path h="398373" w="977592">
                  <a:moveTo>
                    <a:pt x="30855" y="0"/>
                  </a:moveTo>
                  <a:lnTo>
                    <a:pt x="946737" y="0"/>
                  </a:lnTo>
                  <a:cubicBezTo>
                    <a:pt x="954920" y="0"/>
                    <a:pt x="962768" y="3251"/>
                    <a:pt x="968555" y="9037"/>
                  </a:cubicBezTo>
                  <a:cubicBezTo>
                    <a:pt x="974341" y="14823"/>
                    <a:pt x="977592" y="22671"/>
                    <a:pt x="977592" y="30855"/>
                  </a:cubicBezTo>
                  <a:lnTo>
                    <a:pt x="977592" y="367518"/>
                  </a:lnTo>
                  <a:cubicBezTo>
                    <a:pt x="977592" y="375701"/>
                    <a:pt x="974341" y="383549"/>
                    <a:pt x="968555" y="389336"/>
                  </a:cubicBezTo>
                  <a:cubicBezTo>
                    <a:pt x="962768" y="395122"/>
                    <a:pt x="954920" y="398373"/>
                    <a:pt x="946737" y="398373"/>
                  </a:cubicBezTo>
                  <a:lnTo>
                    <a:pt x="30855" y="398373"/>
                  </a:lnTo>
                  <a:cubicBezTo>
                    <a:pt x="22671" y="398373"/>
                    <a:pt x="14823" y="395122"/>
                    <a:pt x="9037" y="389336"/>
                  </a:cubicBezTo>
                  <a:cubicBezTo>
                    <a:pt x="3251" y="383549"/>
                    <a:pt x="0" y="375701"/>
                    <a:pt x="0" y="367518"/>
                  </a:cubicBezTo>
                  <a:lnTo>
                    <a:pt x="0" y="30855"/>
                  </a:lnTo>
                  <a:cubicBezTo>
                    <a:pt x="0" y="22671"/>
                    <a:pt x="3251" y="14823"/>
                    <a:pt x="9037" y="9037"/>
                  </a:cubicBezTo>
                  <a:cubicBezTo>
                    <a:pt x="14823" y="3251"/>
                    <a:pt x="22671" y="0"/>
                    <a:pt x="3085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1873" r="0" b="-31873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725265" y="-1840704"/>
            <a:ext cx="5269495" cy="7817063"/>
          </a:xfrm>
          <a:custGeom>
            <a:avLst/>
            <a:gdLst/>
            <a:ahLst/>
            <a:cxnLst/>
            <a:rect r="r" b="b" t="t" l="l"/>
            <a:pathLst>
              <a:path h="7817063" w="5269495">
                <a:moveTo>
                  <a:pt x="0" y="0"/>
                </a:moveTo>
                <a:lnTo>
                  <a:pt x="5269495" y="0"/>
                </a:lnTo>
                <a:lnTo>
                  <a:pt x="5269495" y="7817064"/>
                </a:lnTo>
                <a:lnTo>
                  <a:pt x="0" y="7817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433480" y="1959068"/>
            <a:ext cx="6624647" cy="2327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2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O problema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3433480" y="4947468"/>
            <a:ext cx="968858" cy="968858"/>
          </a:xfrm>
          <a:custGeom>
            <a:avLst/>
            <a:gdLst/>
            <a:ahLst/>
            <a:cxnLst/>
            <a:rect r="r" b="b" t="t" l="l"/>
            <a:pathLst>
              <a:path h="968858" w="968858">
                <a:moveTo>
                  <a:pt x="968858" y="0"/>
                </a:moveTo>
                <a:lnTo>
                  <a:pt x="0" y="0"/>
                </a:lnTo>
                <a:lnTo>
                  <a:pt x="0" y="968858"/>
                </a:lnTo>
                <a:lnTo>
                  <a:pt x="968858" y="968858"/>
                </a:lnTo>
                <a:lnTo>
                  <a:pt x="968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7424626" y="4947468"/>
            <a:ext cx="968858" cy="968858"/>
          </a:xfrm>
          <a:custGeom>
            <a:avLst/>
            <a:gdLst/>
            <a:ahLst/>
            <a:cxnLst/>
            <a:rect r="r" b="b" t="t" l="l"/>
            <a:pathLst>
              <a:path h="968858" w="968858">
                <a:moveTo>
                  <a:pt x="968858" y="0"/>
                </a:moveTo>
                <a:lnTo>
                  <a:pt x="0" y="0"/>
                </a:lnTo>
                <a:lnTo>
                  <a:pt x="0" y="968858"/>
                </a:lnTo>
                <a:lnTo>
                  <a:pt x="968858" y="968858"/>
                </a:lnTo>
                <a:lnTo>
                  <a:pt x="968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959367">
            <a:off x="3658911" y="5136360"/>
            <a:ext cx="517995" cy="591073"/>
          </a:xfrm>
          <a:custGeom>
            <a:avLst/>
            <a:gdLst/>
            <a:ahLst/>
            <a:cxnLst/>
            <a:rect r="r" b="b" t="t" l="l"/>
            <a:pathLst>
              <a:path h="591073" w="517995">
                <a:moveTo>
                  <a:pt x="0" y="0"/>
                </a:moveTo>
                <a:lnTo>
                  <a:pt x="517995" y="0"/>
                </a:lnTo>
                <a:lnTo>
                  <a:pt x="517995" y="591074"/>
                </a:lnTo>
                <a:lnTo>
                  <a:pt x="0" y="591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959367">
            <a:off x="7650057" y="5136360"/>
            <a:ext cx="517995" cy="591073"/>
          </a:xfrm>
          <a:custGeom>
            <a:avLst/>
            <a:gdLst/>
            <a:ahLst/>
            <a:cxnLst/>
            <a:rect r="r" b="b" t="t" l="l"/>
            <a:pathLst>
              <a:path h="591073" w="517995">
                <a:moveTo>
                  <a:pt x="0" y="0"/>
                </a:moveTo>
                <a:lnTo>
                  <a:pt x="517996" y="0"/>
                </a:lnTo>
                <a:lnTo>
                  <a:pt x="517996" y="591074"/>
                </a:lnTo>
                <a:lnTo>
                  <a:pt x="0" y="591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3433480" y="6987899"/>
            <a:ext cx="3138128" cy="0"/>
          </a:xfrm>
          <a:prstGeom prst="line">
            <a:avLst/>
          </a:prstGeom>
          <a:ln cap="rnd" w="19050">
            <a:solidFill>
              <a:srgbClr val="DDF41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424626" y="6987899"/>
            <a:ext cx="3108256" cy="0"/>
          </a:xfrm>
          <a:prstGeom prst="line">
            <a:avLst/>
          </a:prstGeom>
          <a:ln cap="rnd" w="19050">
            <a:solidFill>
              <a:srgbClr val="DDF41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359650" y="6987899"/>
            <a:ext cx="3092948" cy="0"/>
          </a:xfrm>
          <a:prstGeom prst="line">
            <a:avLst/>
          </a:prstGeom>
          <a:ln cap="rnd" w="19050">
            <a:solidFill>
              <a:srgbClr val="0B0A0A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433480" y="7150733"/>
            <a:ext cx="3319246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Luzes</a:t>
            </a:r>
            <a:r>
              <a:rPr lang="en-US" sz="19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ficam l</a:t>
            </a:r>
            <a:r>
              <a:rPr lang="en-US" sz="19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igadas mais tempo que o necessário por esquecimento em locais como corredores, garagens, e escadas.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4626" y="7150733"/>
            <a:ext cx="3198890" cy="282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Il</a:t>
            </a:r>
            <a:r>
              <a:rPr lang="en-US" sz="19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uminação ≈ 15% do consumo global de eletricidade e ~5% das emissões de gases de efeito estufa.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(GRAND VIEW RESEARCH, 2023).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433480" y="6106826"/>
            <a:ext cx="2943588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400" b="true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De</a:t>
            </a: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sperdício de energia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4626" y="6106826"/>
            <a:ext cx="2978463" cy="38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400" b="true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Imp</a:t>
            </a: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acto relevante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50839" y="7150733"/>
            <a:ext cx="2990984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9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pender de interruptores nem sempre é prático em ambientes de uso intermitente.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50839" y="6059201"/>
            <a:ext cx="318760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Controle manual é ineficiente </a:t>
            </a:r>
          </a:p>
        </p:txBody>
      </p:sp>
      <p:sp>
        <p:nvSpPr>
          <p:cNvPr name="Freeform 19" id="19"/>
          <p:cNvSpPr/>
          <p:nvPr/>
        </p:nvSpPr>
        <p:spPr>
          <a:xfrm flipH="true" flipV="false" rot="0">
            <a:off x="11415772" y="4947468"/>
            <a:ext cx="968858" cy="968858"/>
          </a:xfrm>
          <a:custGeom>
            <a:avLst/>
            <a:gdLst/>
            <a:ahLst/>
            <a:cxnLst/>
            <a:rect r="r" b="b" t="t" l="l"/>
            <a:pathLst>
              <a:path h="968858" w="968858">
                <a:moveTo>
                  <a:pt x="968858" y="0"/>
                </a:moveTo>
                <a:lnTo>
                  <a:pt x="0" y="0"/>
                </a:lnTo>
                <a:lnTo>
                  <a:pt x="0" y="968858"/>
                </a:lnTo>
                <a:lnTo>
                  <a:pt x="968858" y="968858"/>
                </a:lnTo>
                <a:lnTo>
                  <a:pt x="968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959367">
            <a:off x="11641204" y="5136360"/>
            <a:ext cx="517995" cy="591073"/>
          </a:xfrm>
          <a:custGeom>
            <a:avLst/>
            <a:gdLst/>
            <a:ahLst/>
            <a:cxnLst/>
            <a:rect r="r" b="b" t="t" l="l"/>
            <a:pathLst>
              <a:path h="591073" w="517995">
                <a:moveTo>
                  <a:pt x="0" y="0"/>
                </a:moveTo>
                <a:lnTo>
                  <a:pt x="517995" y="0"/>
                </a:lnTo>
                <a:lnTo>
                  <a:pt x="517995" y="591074"/>
                </a:lnTo>
                <a:lnTo>
                  <a:pt x="0" y="5910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045146" y="1401762"/>
            <a:ext cx="1093627" cy="1038412"/>
          </a:xfrm>
          <a:custGeom>
            <a:avLst/>
            <a:gdLst/>
            <a:ahLst/>
            <a:cxnLst/>
            <a:rect r="r" b="b" t="t" l="l"/>
            <a:pathLst>
              <a:path h="1038412" w="1093627">
                <a:moveTo>
                  <a:pt x="0" y="0"/>
                </a:moveTo>
                <a:lnTo>
                  <a:pt x="1093628" y="0"/>
                </a:lnTo>
                <a:lnTo>
                  <a:pt x="1093628" y="1038412"/>
                </a:lnTo>
                <a:lnTo>
                  <a:pt x="0" y="10384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73390" b="-203002"/>
            </a:stretch>
          </a:blipFill>
        </p:spPr>
      </p:sp>
      <p:sp>
        <p:nvSpPr>
          <p:cNvPr name="AutoShape 22" id="22"/>
          <p:cNvSpPr/>
          <p:nvPr/>
        </p:nvSpPr>
        <p:spPr>
          <a:xfrm>
            <a:off x="11450839" y="7083149"/>
            <a:ext cx="3108256" cy="0"/>
          </a:xfrm>
          <a:prstGeom prst="line">
            <a:avLst/>
          </a:prstGeom>
          <a:ln cap="rnd" w="19050">
            <a:solidFill>
              <a:srgbClr val="DDF41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-1038805" y="3301751"/>
            <a:ext cx="4135009" cy="4135009"/>
          </a:xfrm>
          <a:custGeom>
            <a:avLst/>
            <a:gdLst/>
            <a:ahLst/>
            <a:cxnLst/>
            <a:rect r="r" b="b" t="t" l="l"/>
            <a:pathLst>
              <a:path h="4135009" w="4135009">
                <a:moveTo>
                  <a:pt x="0" y="0"/>
                </a:moveTo>
                <a:lnTo>
                  <a:pt x="4135010" y="0"/>
                </a:lnTo>
                <a:lnTo>
                  <a:pt x="4135010" y="4135010"/>
                </a:lnTo>
                <a:lnTo>
                  <a:pt x="0" y="4135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765814" y="5143500"/>
            <a:ext cx="3432891" cy="4400693"/>
            <a:chOff x="0" y="0"/>
            <a:chExt cx="4577188" cy="586759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577188" cy="5867591"/>
              <a:chOff x="0" y="0"/>
              <a:chExt cx="904136" cy="1159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04136" cy="1159030"/>
              </a:xfrm>
              <a:custGeom>
                <a:avLst/>
                <a:gdLst/>
                <a:ahLst/>
                <a:cxnLst/>
                <a:rect r="r" b="b" t="t" l="l"/>
                <a:pathLst>
                  <a:path h="1159030" w="904136">
                    <a:moveTo>
                      <a:pt x="115016" y="0"/>
                    </a:moveTo>
                    <a:lnTo>
                      <a:pt x="789120" y="0"/>
                    </a:lnTo>
                    <a:cubicBezTo>
                      <a:pt x="852641" y="0"/>
                      <a:pt x="904136" y="51494"/>
                      <a:pt x="904136" y="115016"/>
                    </a:cubicBezTo>
                    <a:lnTo>
                      <a:pt x="904136" y="1044014"/>
                    </a:lnTo>
                    <a:cubicBezTo>
                      <a:pt x="904136" y="1107536"/>
                      <a:pt x="852641" y="1159030"/>
                      <a:pt x="789120" y="1159030"/>
                    </a:cubicBezTo>
                    <a:lnTo>
                      <a:pt x="115016" y="1159030"/>
                    </a:lnTo>
                    <a:cubicBezTo>
                      <a:pt x="51494" y="1159030"/>
                      <a:pt x="0" y="1107536"/>
                      <a:pt x="0" y="1044014"/>
                    </a:cubicBezTo>
                    <a:lnTo>
                      <a:pt x="0" y="115016"/>
                    </a:lnTo>
                    <a:cubicBezTo>
                      <a:pt x="0" y="51494"/>
                      <a:pt x="51494" y="0"/>
                      <a:pt x="115016" y="0"/>
                    </a:cubicBezTo>
                    <a:close/>
                  </a:path>
                </a:pathLst>
              </a:custGeom>
              <a:solidFill>
                <a:srgbClr val="DDF41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904136" cy="12257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89704" y="3100492"/>
              <a:ext cx="3597779" cy="2091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B0A0A"/>
                  </a:solidFill>
                  <a:latin typeface="Poppins"/>
                  <a:ea typeface="Poppins"/>
                  <a:cs typeface="Poppins"/>
                  <a:sym typeface="Poppins"/>
                </a:rPr>
                <a:t>Liga só quando há </a:t>
              </a:r>
              <a:r>
                <a:rPr lang="en-US" sz="1800">
                  <a:solidFill>
                    <a:srgbClr val="0B0A0A"/>
                  </a:solidFill>
                  <a:latin typeface="Poppins"/>
                  <a:ea typeface="Poppins"/>
                  <a:cs typeface="Poppins"/>
                  <a:sym typeface="Poppins"/>
                </a:rPr>
                <a:t>presença E o ambiente está escuro. Desliga após 7 segundos sem movimento.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9704" y="1781901"/>
              <a:ext cx="3597779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</a:t>
              </a:r>
              <a:r>
                <a:rPr lang="en-US" b="true" sz="2400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od</a:t>
              </a:r>
              <a:r>
                <a:rPr lang="en-US" b="true" sz="2400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 Automático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7555" y="5143500"/>
            <a:ext cx="3432891" cy="4400693"/>
            <a:chOff x="0" y="0"/>
            <a:chExt cx="904136" cy="11590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4136" cy="1159030"/>
            </a:xfrm>
            <a:custGeom>
              <a:avLst/>
              <a:gdLst/>
              <a:ahLst/>
              <a:cxnLst/>
              <a:rect r="r" b="b" t="t" l="l"/>
              <a:pathLst>
                <a:path h="1159030" w="904136">
                  <a:moveTo>
                    <a:pt x="115016" y="0"/>
                  </a:moveTo>
                  <a:lnTo>
                    <a:pt x="789120" y="0"/>
                  </a:lnTo>
                  <a:cubicBezTo>
                    <a:pt x="852641" y="0"/>
                    <a:pt x="904136" y="51494"/>
                    <a:pt x="904136" y="115016"/>
                  </a:cubicBezTo>
                  <a:lnTo>
                    <a:pt x="904136" y="1044014"/>
                  </a:lnTo>
                  <a:cubicBezTo>
                    <a:pt x="904136" y="1107536"/>
                    <a:pt x="852641" y="1159030"/>
                    <a:pt x="789120" y="1159030"/>
                  </a:cubicBezTo>
                  <a:lnTo>
                    <a:pt x="115016" y="1159030"/>
                  </a:lnTo>
                  <a:cubicBezTo>
                    <a:pt x="51494" y="1159030"/>
                    <a:pt x="0" y="1107536"/>
                    <a:pt x="0" y="1044014"/>
                  </a:cubicBezTo>
                  <a:lnTo>
                    <a:pt x="0" y="115016"/>
                  </a:lnTo>
                  <a:cubicBezTo>
                    <a:pt x="0" y="51494"/>
                    <a:pt x="51494" y="0"/>
                    <a:pt x="115016" y="0"/>
                  </a:cubicBezTo>
                  <a:close/>
                </a:path>
              </a:pathLst>
            </a:custGeom>
            <a:solidFill>
              <a:srgbClr val="DDF4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04136" cy="1225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86515" y="5143500"/>
            <a:ext cx="3432891" cy="4400693"/>
            <a:chOff x="0" y="0"/>
            <a:chExt cx="904136" cy="11590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4136" cy="1159030"/>
            </a:xfrm>
            <a:custGeom>
              <a:avLst/>
              <a:gdLst/>
              <a:ahLst/>
              <a:cxnLst/>
              <a:rect r="r" b="b" t="t" l="l"/>
              <a:pathLst>
                <a:path h="1159030" w="904136">
                  <a:moveTo>
                    <a:pt x="115016" y="0"/>
                  </a:moveTo>
                  <a:lnTo>
                    <a:pt x="789120" y="0"/>
                  </a:lnTo>
                  <a:cubicBezTo>
                    <a:pt x="852641" y="0"/>
                    <a:pt x="904136" y="51494"/>
                    <a:pt x="904136" y="115016"/>
                  </a:cubicBezTo>
                  <a:lnTo>
                    <a:pt x="904136" y="1044014"/>
                  </a:lnTo>
                  <a:cubicBezTo>
                    <a:pt x="904136" y="1107536"/>
                    <a:pt x="852641" y="1159030"/>
                    <a:pt x="789120" y="1159030"/>
                  </a:cubicBezTo>
                  <a:lnTo>
                    <a:pt x="115016" y="1159030"/>
                  </a:lnTo>
                  <a:cubicBezTo>
                    <a:pt x="51494" y="1159030"/>
                    <a:pt x="0" y="1107536"/>
                    <a:pt x="0" y="1044014"/>
                  </a:cubicBezTo>
                  <a:lnTo>
                    <a:pt x="0" y="115016"/>
                  </a:lnTo>
                  <a:cubicBezTo>
                    <a:pt x="0" y="51494"/>
                    <a:pt x="51494" y="0"/>
                    <a:pt x="115016" y="0"/>
                  </a:cubicBezTo>
                  <a:close/>
                </a:path>
              </a:pathLst>
            </a:custGeom>
            <a:solidFill>
              <a:srgbClr val="DDF41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04136" cy="1225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960648" y="1028700"/>
            <a:ext cx="3558757" cy="3314093"/>
          </a:xfrm>
          <a:custGeom>
            <a:avLst/>
            <a:gdLst/>
            <a:ahLst/>
            <a:cxnLst/>
            <a:rect r="r" b="b" t="t" l="l"/>
            <a:pathLst>
              <a:path h="3314093" w="3558757">
                <a:moveTo>
                  <a:pt x="0" y="0"/>
                </a:moveTo>
                <a:lnTo>
                  <a:pt x="3558757" y="0"/>
                </a:lnTo>
                <a:lnTo>
                  <a:pt x="3558757" y="3314093"/>
                </a:lnTo>
                <a:lnTo>
                  <a:pt x="0" y="33140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383835" y="5546943"/>
            <a:ext cx="838250" cy="760712"/>
          </a:xfrm>
          <a:custGeom>
            <a:avLst/>
            <a:gdLst/>
            <a:ahLst/>
            <a:cxnLst/>
            <a:rect r="r" b="b" t="t" l="l"/>
            <a:pathLst>
              <a:path h="760712" w="838250">
                <a:moveTo>
                  <a:pt x="0" y="0"/>
                </a:moveTo>
                <a:lnTo>
                  <a:pt x="838250" y="0"/>
                </a:lnTo>
                <a:lnTo>
                  <a:pt x="838250" y="760713"/>
                </a:lnTo>
                <a:lnTo>
                  <a:pt x="0" y="76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8762812" y="5545280"/>
            <a:ext cx="762376" cy="762376"/>
          </a:xfrm>
          <a:custGeom>
            <a:avLst/>
            <a:gdLst/>
            <a:ahLst/>
            <a:cxnLst/>
            <a:rect r="r" b="b" t="t" l="l"/>
            <a:pathLst>
              <a:path h="762376" w="762376">
                <a:moveTo>
                  <a:pt x="0" y="0"/>
                </a:moveTo>
                <a:lnTo>
                  <a:pt x="762376" y="0"/>
                </a:lnTo>
                <a:lnTo>
                  <a:pt x="762376" y="762376"/>
                </a:lnTo>
                <a:lnTo>
                  <a:pt x="0" y="762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83373" y="5819768"/>
            <a:ext cx="781831" cy="710163"/>
          </a:xfrm>
          <a:custGeom>
            <a:avLst/>
            <a:gdLst/>
            <a:ahLst/>
            <a:cxnLst/>
            <a:rect r="r" b="b" t="t" l="l"/>
            <a:pathLst>
              <a:path h="710163" w="781831">
                <a:moveTo>
                  <a:pt x="0" y="0"/>
                </a:moveTo>
                <a:lnTo>
                  <a:pt x="781832" y="0"/>
                </a:lnTo>
                <a:lnTo>
                  <a:pt x="781832" y="710164"/>
                </a:lnTo>
                <a:lnTo>
                  <a:pt x="0" y="7101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794833" y="7454582"/>
            <a:ext cx="2698334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usuário liga/desliga a lâmpada pela web, independente da luminosidade.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94833" y="6463257"/>
            <a:ext cx="269833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Modo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97882" y="7454656"/>
            <a:ext cx="3010156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Mo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stra presença, nível de luz e estado da lâmpada em tempo real no dashboard.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53793" y="6463257"/>
            <a:ext cx="269833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elemetr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65814" y="1512857"/>
            <a:ext cx="366397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A solução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5814" y="2074478"/>
            <a:ext cx="7702050" cy="163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84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Lâmpad</a:t>
            </a: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a</a:t>
            </a: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 Inteligente ESP32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31271" y="5143500"/>
            <a:ext cx="5715106" cy="5715106"/>
          </a:xfrm>
          <a:custGeom>
            <a:avLst/>
            <a:gdLst/>
            <a:ahLst/>
            <a:cxnLst/>
            <a:rect r="r" b="b" t="t" l="l"/>
            <a:pathLst>
              <a:path h="5715106" w="5715106">
                <a:moveTo>
                  <a:pt x="0" y="0"/>
                </a:moveTo>
                <a:lnTo>
                  <a:pt x="5715105" y="0"/>
                </a:lnTo>
                <a:lnTo>
                  <a:pt x="5715105" y="5715106"/>
                </a:lnTo>
                <a:lnTo>
                  <a:pt x="0" y="5715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63113" y="-708541"/>
            <a:ext cx="11579733" cy="6920726"/>
            <a:chOff x="0" y="0"/>
            <a:chExt cx="3574412" cy="2136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74412" cy="2136278"/>
            </a:xfrm>
            <a:custGeom>
              <a:avLst/>
              <a:gdLst/>
              <a:ahLst/>
              <a:cxnLst/>
              <a:rect r="r" b="b" t="t" l="l"/>
              <a:pathLst>
                <a:path h="2136278" w="3574412">
                  <a:moveTo>
                    <a:pt x="1417010" y="296700"/>
                  </a:moveTo>
                  <a:lnTo>
                    <a:pt x="1417010" y="140123"/>
                  </a:lnTo>
                  <a:cubicBezTo>
                    <a:pt x="1417010" y="62736"/>
                    <a:pt x="1354276" y="1"/>
                    <a:pt x="1276888" y="0"/>
                  </a:cubicBezTo>
                  <a:lnTo>
                    <a:pt x="140123" y="0"/>
                  </a:lnTo>
                  <a:cubicBezTo>
                    <a:pt x="62735" y="0"/>
                    <a:pt x="0" y="62735"/>
                    <a:pt x="0" y="140123"/>
                  </a:cubicBezTo>
                  <a:lnTo>
                    <a:pt x="0" y="488772"/>
                  </a:lnTo>
                  <a:cubicBezTo>
                    <a:pt x="0" y="525935"/>
                    <a:pt x="14763" y="561576"/>
                    <a:pt x="41041" y="587854"/>
                  </a:cubicBezTo>
                  <a:cubicBezTo>
                    <a:pt x="67319" y="614132"/>
                    <a:pt x="102960" y="628894"/>
                    <a:pt x="140123" y="628894"/>
                  </a:cubicBezTo>
                  <a:lnTo>
                    <a:pt x="712216" y="628894"/>
                  </a:lnTo>
                  <a:cubicBezTo>
                    <a:pt x="789603" y="628895"/>
                    <a:pt x="852337" y="691630"/>
                    <a:pt x="852336" y="769017"/>
                  </a:cubicBezTo>
                  <a:lnTo>
                    <a:pt x="852336" y="1996155"/>
                  </a:lnTo>
                  <a:cubicBezTo>
                    <a:pt x="852336" y="2033318"/>
                    <a:pt x="867099" y="2068959"/>
                    <a:pt x="893377" y="2095237"/>
                  </a:cubicBezTo>
                  <a:cubicBezTo>
                    <a:pt x="919656" y="2121515"/>
                    <a:pt x="955296" y="2136278"/>
                    <a:pt x="992459" y="2136278"/>
                  </a:cubicBezTo>
                  <a:lnTo>
                    <a:pt x="3434291" y="2136278"/>
                  </a:lnTo>
                  <a:cubicBezTo>
                    <a:pt x="3471453" y="2136278"/>
                    <a:pt x="3507094" y="2121515"/>
                    <a:pt x="3533372" y="2095237"/>
                  </a:cubicBezTo>
                  <a:cubicBezTo>
                    <a:pt x="3559650" y="2068959"/>
                    <a:pt x="3574412" y="2033318"/>
                    <a:pt x="3574412" y="1996155"/>
                  </a:cubicBezTo>
                  <a:lnTo>
                    <a:pt x="3574412" y="576944"/>
                  </a:lnTo>
                  <a:cubicBezTo>
                    <a:pt x="3574412" y="499557"/>
                    <a:pt x="3511678" y="436823"/>
                    <a:pt x="3434291" y="436823"/>
                  </a:cubicBezTo>
                  <a:lnTo>
                    <a:pt x="1557133" y="436823"/>
                  </a:lnTo>
                  <a:cubicBezTo>
                    <a:pt x="1519970" y="436823"/>
                    <a:pt x="1484329" y="422060"/>
                    <a:pt x="1458051" y="395782"/>
                  </a:cubicBezTo>
                  <a:cubicBezTo>
                    <a:pt x="1431773" y="369504"/>
                    <a:pt x="1417010" y="333863"/>
                    <a:pt x="1417010" y="296700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569758" y="1640284"/>
            <a:ext cx="7560135" cy="7006431"/>
            <a:chOff x="0" y="0"/>
            <a:chExt cx="941220" cy="87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1220" cy="872285"/>
            </a:xfrm>
            <a:custGeom>
              <a:avLst/>
              <a:gdLst/>
              <a:ahLst/>
              <a:cxnLst/>
              <a:rect r="r" b="b" t="t" l="l"/>
              <a:pathLst>
                <a:path h="872285" w="941220">
                  <a:moveTo>
                    <a:pt x="30721" y="0"/>
                  </a:moveTo>
                  <a:lnTo>
                    <a:pt x="910498" y="0"/>
                  </a:lnTo>
                  <a:cubicBezTo>
                    <a:pt x="927465" y="0"/>
                    <a:pt x="941220" y="13754"/>
                    <a:pt x="941220" y="30721"/>
                  </a:cubicBezTo>
                  <a:lnTo>
                    <a:pt x="941220" y="841563"/>
                  </a:lnTo>
                  <a:cubicBezTo>
                    <a:pt x="941220" y="858530"/>
                    <a:pt x="927465" y="872285"/>
                    <a:pt x="910498" y="872285"/>
                  </a:cubicBezTo>
                  <a:lnTo>
                    <a:pt x="30721" y="872285"/>
                  </a:lnTo>
                  <a:cubicBezTo>
                    <a:pt x="13754" y="872285"/>
                    <a:pt x="0" y="858530"/>
                    <a:pt x="0" y="841563"/>
                  </a:cubicBezTo>
                  <a:lnTo>
                    <a:pt x="0" y="30721"/>
                  </a:lnTo>
                  <a:cubicBezTo>
                    <a:pt x="0" y="13754"/>
                    <a:pt x="13754" y="0"/>
                    <a:pt x="3072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83" r="0" b="-3883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812792" y="6559817"/>
            <a:ext cx="302321" cy="302321"/>
          </a:xfrm>
          <a:custGeom>
            <a:avLst/>
            <a:gdLst/>
            <a:ahLst/>
            <a:cxnLst/>
            <a:rect r="r" b="b" t="t" l="l"/>
            <a:pathLst>
              <a:path h="302321" w="302321">
                <a:moveTo>
                  <a:pt x="0" y="0"/>
                </a:moveTo>
                <a:lnTo>
                  <a:pt x="302321" y="0"/>
                </a:lnTo>
                <a:lnTo>
                  <a:pt x="302321" y="302321"/>
                </a:lnTo>
                <a:lnTo>
                  <a:pt x="0" y="302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5146226" y="8020601"/>
            <a:ext cx="671193" cy="2675045"/>
          </a:xfrm>
          <a:custGeom>
            <a:avLst/>
            <a:gdLst/>
            <a:ahLst/>
            <a:cxnLst/>
            <a:rect r="r" b="b" t="t" l="l"/>
            <a:pathLst>
              <a:path h="2675045" w="671193">
                <a:moveTo>
                  <a:pt x="0" y="0"/>
                </a:moveTo>
                <a:lnTo>
                  <a:pt x="671193" y="0"/>
                </a:lnTo>
                <a:lnTo>
                  <a:pt x="671193" y="2675044"/>
                </a:lnTo>
                <a:lnTo>
                  <a:pt x="0" y="2675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9634954" y="2427143"/>
            <a:ext cx="7530579" cy="18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24"/>
              </a:lnSpc>
            </a:pPr>
            <a:r>
              <a:rPr lang="en-US" sz="56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Dia</a:t>
            </a: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grama de Blocos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34954" y="1573609"/>
            <a:ext cx="4168443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pc="-47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Arquitetura de Hardware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34954" y="4668235"/>
            <a:ext cx="6787241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Observação: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No protótipo físico o LDR foi montado com um resistor externo (divisor de tensão).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No diagrama/simulação do Wokwi o módulo LDR já possui seu próprio resistor embutido, e por isso a ligação aparece um pouco diferente.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5034" y="3440955"/>
            <a:ext cx="7186454" cy="5082917"/>
            <a:chOff x="0" y="0"/>
            <a:chExt cx="1113370" cy="7874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3370" cy="787477"/>
            </a:xfrm>
            <a:custGeom>
              <a:avLst/>
              <a:gdLst/>
              <a:ahLst/>
              <a:cxnLst/>
              <a:rect r="r" b="b" t="t" l="l"/>
              <a:pathLst>
                <a:path h="787477" w="1113370">
                  <a:moveTo>
                    <a:pt x="32319" y="0"/>
                  </a:moveTo>
                  <a:lnTo>
                    <a:pt x="1081051" y="0"/>
                  </a:lnTo>
                  <a:cubicBezTo>
                    <a:pt x="1098900" y="0"/>
                    <a:pt x="1113370" y="14470"/>
                    <a:pt x="1113370" y="32319"/>
                  </a:cubicBezTo>
                  <a:lnTo>
                    <a:pt x="1113370" y="755158"/>
                  </a:lnTo>
                  <a:cubicBezTo>
                    <a:pt x="1113370" y="773007"/>
                    <a:pt x="1098900" y="787477"/>
                    <a:pt x="1081051" y="787477"/>
                  </a:cubicBezTo>
                  <a:lnTo>
                    <a:pt x="32319" y="787477"/>
                  </a:lnTo>
                  <a:cubicBezTo>
                    <a:pt x="14470" y="787477"/>
                    <a:pt x="0" y="773007"/>
                    <a:pt x="0" y="755158"/>
                  </a:cubicBezTo>
                  <a:lnTo>
                    <a:pt x="0" y="32319"/>
                  </a:lnTo>
                  <a:cubicBezTo>
                    <a:pt x="0" y="14470"/>
                    <a:pt x="14470" y="0"/>
                    <a:pt x="3231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891" r="0" b="-289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9732393" y="1617416"/>
            <a:ext cx="7052169" cy="7052169"/>
          </a:xfrm>
          <a:custGeom>
            <a:avLst/>
            <a:gdLst/>
            <a:ahLst/>
            <a:cxnLst/>
            <a:rect r="r" b="b" t="t" l="l"/>
            <a:pathLst>
              <a:path h="7052169" w="7052169">
                <a:moveTo>
                  <a:pt x="7052169" y="0"/>
                </a:moveTo>
                <a:lnTo>
                  <a:pt x="0" y="0"/>
                </a:lnTo>
                <a:lnTo>
                  <a:pt x="0" y="7052168"/>
                </a:lnTo>
                <a:lnTo>
                  <a:pt x="7052169" y="7052168"/>
                </a:lnTo>
                <a:lnTo>
                  <a:pt x="70521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611181">
            <a:off x="10786552" y="5808581"/>
            <a:ext cx="773499" cy="773499"/>
          </a:xfrm>
          <a:custGeom>
            <a:avLst/>
            <a:gdLst/>
            <a:ahLst/>
            <a:cxnLst/>
            <a:rect r="r" b="b" t="t" l="l"/>
            <a:pathLst>
              <a:path h="773499" w="773499">
                <a:moveTo>
                  <a:pt x="0" y="0"/>
                </a:moveTo>
                <a:lnTo>
                  <a:pt x="773499" y="0"/>
                </a:lnTo>
                <a:lnTo>
                  <a:pt x="773499" y="773499"/>
                </a:lnTo>
                <a:lnTo>
                  <a:pt x="0" y="7734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611181">
            <a:off x="14423263" y="5808581"/>
            <a:ext cx="773499" cy="773499"/>
          </a:xfrm>
          <a:custGeom>
            <a:avLst/>
            <a:gdLst/>
            <a:ahLst/>
            <a:cxnLst/>
            <a:rect r="r" b="b" t="t" l="l"/>
            <a:pathLst>
              <a:path h="773499" w="773499">
                <a:moveTo>
                  <a:pt x="0" y="0"/>
                </a:moveTo>
                <a:lnTo>
                  <a:pt x="773500" y="0"/>
                </a:lnTo>
                <a:lnTo>
                  <a:pt x="773500" y="773499"/>
                </a:lnTo>
                <a:lnTo>
                  <a:pt x="0" y="773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611181">
            <a:off x="10786552" y="2188764"/>
            <a:ext cx="773499" cy="773499"/>
          </a:xfrm>
          <a:custGeom>
            <a:avLst/>
            <a:gdLst/>
            <a:ahLst/>
            <a:cxnLst/>
            <a:rect r="r" b="b" t="t" l="l"/>
            <a:pathLst>
              <a:path h="773499" w="773499">
                <a:moveTo>
                  <a:pt x="0" y="0"/>
                </a:moveTo>
                <a:lnTo>
                  <a:pt x="773499" y="0"/>
                </a:lnTo>
                <a:lnTo>
                  <a:pt x="773499" y="773499"/>
                </a:lnTo>
                <a:lnTo>
                  <a:pt x="0" y="773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611181">
            <a:off x="14423263" y="2188764"/>
            <a:ext cx="773499" cy="773499"/>
          </a:xfrm>
          <a:custGeom>
            <a:avLst/>
            <a:gdLst/>
            <a:ahLst/>
            <a:cxnLst/>
            <a:rect r="r" b="b" t="t" l="l"/>
            <a:pathLst>
              <a:path h="773499" w="773499">
                <a:moveTo>
                  <a:pt x="0" y="0"/>
                </a:moveTo>
                <a:lnTo>
                  <a:pt x="773500" y="0"/>
                </a:lnTo>
                <a:lnTo>
                  <a:pt x="773500" y="773499"/>
                </a:lnTo>
                <a:lnTo>
                  <a:pt x="0" y="7734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14136" y="270072"/>
            <a:ext cx="10198745" cy="3170883"/>
          </a:xfrm>
          <a:custGeom>
            <a:avLst/>
            <a:gdLst/>
            <a:ahLst/>
            <a:cxnLst/>
            <a:rect r="r" b="b" t="t" l="l"/>
            <a:pathLst>
              <a:path h="3170883" w="10198745">
                <a:moveTo>
                  <a:pt x="0" y="0"/>
                </a:moveTo>
                <a:lnTo>
                  <a:pt x="10198745" y="0"/>
                </a:lnTo>
                <a:lnTo>
                  <a:pt x="10198745" y="3170883"/>
                </a:lnTo>
                <a:lnTo>
                  <a:pt x="0" y="31708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29558" y="3808965"/>
            <a:ext cx="276091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Detecta presença / movimento -&gt; GPIO 26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29558" y="7449745"/>
            <a:ext cx="276091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epresenta a lâmpada → GPIO 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29558" y="6936266"/>
            <a:ext cx="310307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LED</a:t>
            </a:r>
            <a:r>
              <a:rPr lang="en-US" b="true" sz="21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+ Resistor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5400000">
            <a:off x="13570769" y="5562249"/>
            <a:ext cx="7377062" cy="4882274"/>
          </a:xfrm>
          <a:custGeom>
            <a:avLst/>
            <a:gdLst/>
            <a:ahLst/>
            <a:cxnLst/>
            <a:rect r="r" b="b" t="t" l="l"/>
            <a:pathLst>
              <a:path h="4882274" w="7377062">
                <a:moveTo>
                  <a:pt x="0" y="0"/>
                </a:moveTo>
                <a:lnTo>
                  <a:pt x="7377062" y="0"/>
                </a:lnTo>
                <a:lnTo>
                  <a:pt x="7377062" y="4882274"/>
                </a:lnTo>
                <a:lnTo>
                  <a:pt x="0" y="48822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5640579" y="9019172"/>
            <a:ext cx="2511525" cy="337122"/>
          </a:xfrm>
          <a:custGeom>
            <a:avLst/>
            <a:gdLst/>
            <a:ahLst/>
            <a:cxnLst/>
            <a:rect r="r" b="b" t="t" l="l"/>
            <a:pathLst>
              <a:path h="337122" w="2511525">
                <a:moveTo>
                  <a:pt x="0" y="0"/>
                </a:moveTo>
                <a:lnTo>
                  <a:pt x="2511525" y="0"/>
                </a:lnTo>
                <a:lnTo>
                  <a:pt x="2511525" y="337123"/>
                </a:lnTo>
                <a:lnTo>
                  <a:pt x="0" y="3371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-39275" b="-99191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15034" y="1773127"/>
            <a:ext cx="6750664" cy="163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84"/>
              </a:lnSpc>
              <a:spcBef>
                <a:spcPct val="0"/>
              </a:spcBef>
            </a:pPr>
            <a:r>
              <a:rPr lang="en-US" sz="56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Componentes e circuito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58033" y="3808965"/>
            <a:ext cx="276091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ontrolador: lóg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ica, Wi-Fi e acionamento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8033" y="7435376"/>
            <a:ext cx="276091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Med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 luminosidade do ambiente -&gt; GPIO 34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58033" y="3312820"/>
            <a:ext cx="310307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ESP32 D</a:t>
            </a:r>
            <a:r>
              <a:rPr lang="en-US" b="true" sz="21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evKit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29558" y="3312820"/>
            <a:ext cx="310307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Sens</a:t>
            </a: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or PIR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58033" y="6936266"/>
            <a:ext cx="329128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Sensor LDR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5034" y="1281637"/>
            <a:ext cx="391581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Arquitetura de Hardware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4136" y="270072"/>
            <a:ext cx="10198745" cy="3170883"/>
          </a:xfrm>
          <a:custGeom>
            <a:avLst/>
            <a:gdLst/>
            <a:ahLst/>
            <a:cxnLst/>
            <a:rect r="r" b="b" t="t" l="l"/>
            <a:pathLst>
              <a:path h="3170883" w="10198745">
                <a:moveTo>
                  <a:pt x="0" y="0"/>
                </a:moveTo>
                <a:lnTo>
                  <a:pt x="10198745" y="0"/>
                </a:lnTo>
                <a:lnTo>
                  <a:pt x="10198745" y="3170883"/>
                </a:lnTo>
                <a:lnTo>
                  <a:pt x="0" y="3170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570769" y="5562249"/>
            <a:ext cx="7377062" cy="4882274"/>
          </a:xfrm>
          <a:custGeom>
            <a:avLst/>
            <a:gdLst/>
            <a:ahLst/>
            <a:cxnLst/>
            <a:rect r="r" b="b" t="t" l="l"/>
            <a:pathLst>
              <a:path h="4882274" w="7377062">
                <a:moveTo>
                  <a:pt x="0" y="0"/>
                </a:moveTo>
                <a:lnTo>
                  <a:pt x="7377062" y="0"/>
                </a:lnTo>
                <a:lnTo>
                  <a:pt x="7377062" y="4882274"/>
                </a:lnTo>
                <a:lnTo>
                  <a:pt x="0" y="488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640579" y="9019172"/>
            <a:ext cx="2511525" cy="337122"/>
          </a:xfrm>
          <a:custGeom>
            <a:avLst/>
            <a:gdLst/>
            <a:ahLst/>
            <a:cxnLst/>
            <a:rect r="r" b="b" t="t" l="l"/>
            <a:pathLst>
              <a:path h="337122" w="2511525">
                <a:moveTo>
                  <a:pt x="0" y="0"/>
                </a:moveTo>
                <a:lnTo>
                  <a:pt x="2511525" y="0"/>
                </a:lnTo>
                <a:lnTo>
                  <a:pt x="2511525" y="337123"/>
                </a:lnTo>
                <a:lnTo>
                  <a:pt x="0" y="337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9275" b="-99191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03178" y="1028700"/>
            <a:ext cx="4628025" cy="8229600"/>
          </a:xfrm>
          <a:custGeom>
            <a:avLst/>
            <a:gdLst/>
            <a:ahLst/>
            <a:cxnLst/>
            <a:rect r="r" b="b" t="t" l="l"/>
            <a:pathLst>
              <a:path h="8229600" w="4628025">
                <a:moveTo>
                  <a:pt x="0" y="0"/>
                </a:moveTo>
                <a:lnTo>
                  <a:pt x="4628025" y="0"/>
                </a:lnTo>
                <a:lnTo>
                  <a:pt x="46280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885237" y="3479055"/>
            <a:ext cx="492914" cy="492914"/>
          </a:xfrm>
          <a:custGeom>
            <a:avLst/>
            <a:gdLst/>
            <a:ahLst/>
            <a:cxnLst/>
            <a:rect r="r" b="b" t="t" l="l"/>
            <a:pathLst>
              <a:path h="492914" w="492914">
                <a:moveTo>
                  <a:pt x="0" y="0"/>
                </a:moveTo>
                <a:lnTo>
                  <a:pt x="492913" y="0"/>
                </a:lnTo>
                <a:lnTo>
                  <a:pt x="492913" y="492914"/>
                </a:lnTo>
                <a:lnTo>
                  <a:pt x="0" y="4929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19977" y="4306460"/>
            <a:ext cx="8512168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LED</a:t>
            </a:r>
            <a:r>
              <a:rPr lang="en-US" sz="2200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+ resistor: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Acende quando a regra é aplicada(automaticamente ou manualmente)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885237" y="4363610"/>
            <a:ext cx="492914" cy="492914"/>
          </a:xfrm>
          <a:custGeom>
            <a:avLst/>
            <a:gdLst/>
            <a:ahLst/>
            <a:cxnLst/>
            <a:rect r="r" b="b" t="t" l="l"/>
            <a:pathLst>
              <a:path h="492914" w="492914">
                <a:moveTo>
                  <a:pt x="0" y="0"/>
                </a:moveTo>
                <a:lnTo>
                  <a:pt x="492913" y="0"/>
                </a:lnTo>
                <a:lnTo>
                  <a:pt x="492913" y="492914"/>
                </a:lnTo>
                <a:lnTo>
                  <a:pt x="0" y="4929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85237" y="5679330"/>
            <a:ext cx="492914" cy="492914"/>
          </a:xfrm>
          <a:custGeom>
            <a:avLst/>
            <a:gdLst/>
            <a:ahLst/>
            <a:cxnLst/>
            <a:rect r="r" b="b" t="t" l="l"/>
            <a:pathLst>
              <a:path h="492914" w="492914">
                <a:moveTo>
                  <a:pt x="0" y="0"/>
                </a:moveTo>
                <a:lnTo>
                  <a:pt x="492913" y="0"/>
                </a:lnTo>
                <a:lnTo>
                  <a:pt x="492913" y="492913"/>
                </a:lnTo>
                <a:lnTo>
                  <a:pt x="0" y="492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85237" y="6669458"/>
            <a:ext cx="492914" cy="492914"/>
          </a:xfrm>
          <a:custGeom>
            <a:avLst/>
            <a:gdLst/>
            <a:ahLst/>
            <a:cxnLst/>
            <a:rect r="r" b="b" t="t" l="l"/>
            <a:pathLst>
              <a:path h="492914" w="492914">
                <a:moveTo>
                  <a:pt x="0" y="0"/>
                </a:moveTo>
                <a:lnTo>
                  <a:pt x="492913" y="0"/>
                </a:lnTo>
                <a:lnTo>
                  <a:pt x="492913" y="492914"/>
                </a:lnTo>
                <a:lnTo>
                  <a:pt x="0" y="4929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31694" y="4166124"/>
            <a:ext cx="8360434" cy="73154"/>
          </a:xfrm>
          <a:custGeom>
            <a:avLst/>
            <a:gdLst/>
            <a:ahLst/>
            <a:cxnLst/>
            <a:rect r="r" b="b" t="t" l="l"/>
            <a:pathLst>
              <a:path h="73154" w="8360434">
                <a:moveTo>
                  <a:pt x="0" y="0"/>
                </a:moveTo>
                <a:lnTo>
                  <a:pt x="8360434" y="0"/>
                </a:lnTo>
                <a:lnTo>
                  <a:pt x="8360434" y="73154"/>
                </a:lnTo>
                <a:lnTo>
                  <a:pt x="0" y="731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85237" y="1453515"/>
            <a:ext cx="6750664" cy="163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84"/>
              </a:lnSpc>
              <a:spcBef>
                <a:spcPct val="0"/>
              </a:spcBef>
            </a:pPr>
            <a:r>
              <a:rPr lang="en-US" sz="56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Protótipo Montado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85237" y="962025"/>
            <a:ext cx="391581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Arquitetura de Hardware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19977" y="3383805"/>
            <a:ext cx="6863655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PIR no topo: </a:t>
            </a:r>
          </a:p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Posicionado pra detectar presença no ambiente.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19977" y="5622180"/>
            <a:ext cx="6529685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LDR</a:t>
            </a:r>
            <a:r>
              <a:rPr lang="en-US" sz="2199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com divisor:</a:t>
            </a:r>
          </a:p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Resistor externo formando o divisor de tensão.;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19977" y="6547375"/>
            <a:ext cx="6738640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ESP32</a:t>
            </a:r>
            <a:r>
              <a:rPr lang="en-US" sz="2199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+ protoboard:</a:t>
            </a:r>
          </a:p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Alimentado via USB, conectado ao mesmo Wi-Fi</a:t>
            </a:r>
          </a:p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que o aplicativo.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131694" y="5517405"/>
            <a:ext cx="8360434" cy="73154"/>
          </a:xfrm>
          <a:custGeom>
            <a:avLst/>
            <a:gdLst/>
            <a:ahLst/>
            <a:cxnLst/>
            <a:rect r="r" b="b" t="t" l="l"/>
            <a:pathLst>
              <a:path h="73154" w="8360434">
                <a:moveTo>
                  <a:pt x="0" y="0"/>
                </a:moveTo>
                <a:lnTo>
                  <a:pt x="8360434" y="0"/>
                </a:lnTo>
                <a:lnTo>
                  <a:pt x="8360434" y="73153"/>
                </a:lnTo>
                <a:lnTo>
                  <a:pt x="0" y="731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1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131694" y="6490225"/>
            <a:ext cx="8360434" cy="73154"/>
          </a:xfrm>
          <a:custGeom>
            <a:avLst/>
            <a:gdLst/>
            <a:ahLst/>
            <a:cxnLst/>
            <a:rect r="r" b="b" t="t" l="l"/>
            <a:pathLst>
              <a:path h="73154" w="8360434">
                <a:moveTo>
                  <a:pt x="0" y="0"/>
                </a:moveTo>
                <a:lnTo>
                  <a:pt x="8360434" y="0"/>
                </a:lnTo>
                <a:lnTo>
                  <a:pt x="8360434" y="73153"/>
                </a:lnTo>
                <a:lnTo>
                  <a:pt x="0" y="731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64888" y="3672039"/>
            <a:ext cx="9782836" cy="5892141"/>
            <a:chOff x="0" y="0"/>
            <a:chExt cx="2601081" cy="15666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1081" cy="1566615"/>
            </a:xfrm>
            <a:custGeom>
              <a:avLst/>
              <a:gdLst/>
              <a:ahLst/>
              <a:cxnLst/>
              <a:rect r="r" b="b" t="t" l="l"/>
              <a:pathLst>
                <a:path h="1566615" w="2601081">
                  <a:moveTo>
                    <a:pt x="2166337" y="904803"/>
                  </a:moveTo>
                  <a:lnTo>
                    <a:pt x="2166337" y="160633"/>
                  </a:lnTo>
                  <a:cubicBezTo>
                    <a:pt x="2166337" y="71918"/>
                    <a:pt x="2094419" y="0"/>
                    <a:pt x="2005704" y="0"/>
                  </a:cubicBezTo>
                  <a:lnTo>
                    <a:pt x="160633" y="0"/>
                  </a:lnTo>
                  <a:cubicBezTo>
                    <a:pt x="71918" y="1"/>
                    <a:pt x="1" y="71918"/>
                    <a:pt x="0" y="160633"/>
                  </a:cubicBezTo>
                  <a:lnTo>
                    <a:pt x="0" y="972496"/>
                  </a:lnTo>
                  <a:cubicBezTo>
                    <a:pt x="1" y="1061211"/>
                    <a:pt x="71918" y="1133129"/>
                    <a:pt x="160633" y="1133130"/>
                  </a:cubicBezTo>
                  <a:lnTo>
                    <a:pt x="1939269" y="1133130"/>
                  </a:lnTo>
                  <a:cubicBezTo>
                    <a:pt x="2027984" y="1133130"/>
                    <a:pt x="2099902" y="1205048"/>
                    <a:pt x="2099902" y="1293763"/>
                  </a:cubicBezTo>
                  <a:lnTo>
                    <a:pt x="2099902" y="1405982"/>
                  </a:lnTo>
                  <a:cubicBezTo>
                    <a:pt x="2099902" y="1494694"/>
                    <a:pt x="2171816" y="1566611"/>
                    <a:pt x="2260529" y="1566615"/>
                  </a:cubicBezTo>
                  <a:lnTo>
                    <a:pt x="2440448" y="1566615"/>
                  </a:lnTo>
                  <a:cubicBezTo>
                    <a:pt x="2529163" y="1566614"/>
                    <a:pt x="2601080" y="1494697"/>
                    <a:pt x="2601081" y="1405982"/>
                  </a:cubicBezTo>
                  <a:lnTo>
                    <a:pt x="2601081" y="1226070"/>
                  </a:lnTo>
                  <a:cubicBezTo>
                    <a:pt x="2601081" y="1137354"/>
                    <a:pt x="2529163" y="1065436"/>
                    <a:pt x="2440448" y="1065436"/>
                  </a:cubicBezTo>
                  <a:lnTo>
                    <a:pt x="2326971" y="1065436"/>
                  </a:lnTo>
                  <a:cubicBezTo>
                    <a:pt x="2238255" y="1065436"/>
                    <a:pt x="2166337" y="993518"/>
                    <a:pt x="2166337" y="90480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59500" y="1485933"/>
            <a:ext cx="416361" cy="416361"/>
          </a:xfrm>
          <a:custGeom>
            <a:avLst/>
            <a:gdLst/>
            <a:ahLst/>
            <a:cxnLst/>
            <a:rect r="r" b="b" t="t" l="l"/>
            <a:pathLst>
              <a:path h="416361" w="416361">
                <a:moveTo>
                  <a:pt x="0" y="0"/>
                </a:moveTo>
                <a:lnTo>
                  <a:pt x="416361" y="0"/>
                </a:lnTo>
                <a:lnTo>
                  <a:pt x="416361" y="416361"/>
                </a:lnTo>
                <a:lnTo>
                  <a:pt x="0" y="41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99384" y="1485933"/>
            <a:ext cx="416361" cy="416361"/>
          </a:xfrm>
          <a:custGeom>
            <a:avLst/>
            <a:gdLst/>
            <a:ahLst/>
            <a:cxnLst/>
            <a:rect r="r" b="b" t="t" l="l"/>
            <a:pathLst>
              <a:path h="416361" w="416361">
                <a:moveTo>
                  <a:pt x="0" y="0"/>
                </a:moveTo>
                <a:lnTo>
                  <a:pt x="416361" y="0"/>
                </a:lnTo>
                <a:lnTo>
                  <a:pt x="416361" y="416361"/>
                </a:lnTo>
                <a:lnTo>
                  <a:pt x="0" y="41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5586" y="1485933"/>
            <a:ext cx="416361" cy="416361"/>
          </a:xfrm>
          <a:custGeom>
            <a:avLst/>
            <a:gdLst/>
            <a:ahLst/>
            <a:cxnLst/>
            <a:rect r="r" b="b" t="t" l="l"/>
            <a:pathLst>
              <a:path h="416361" w="416361">
                <a:moveTo>
                  <a:pt x="0" y="0"/>
                </a:moveTo>
                <a:lnTo>
                  <a:pt x="416360" y="0"/>
                </a:lnTo>
                <a:lnTo>
                  <a:pt x="416360" y="416361"/>
                </a:lnTo>
                <a:lnTo>
                  <a:pt x="0" y="41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1936482" y="7323102"/>
            <a:ext cx="314276" cy="1252549"/>
          </a:xfrm>
          <a:custGeom>
            <a:avLst/>
            <a:gdLst/>
            <a:ahLst/>
            <a:cxnLst/>
            <a:rect r="r" b="b" t="t" l="l"/>
            <a:pathLst>
              <a:path h="1252549" w="314276">
                <a:moveTo>
                  <a:pt x="0" y="0"/>
                </a:moveTo>
                <a:lnTo>
                  <a:pt x="314276" y="0"/>
                </a:lnTo>
                <a:lnTo>
                  <a:pt x="314276" y="1252548"/>
                </a:lnTo>
                <a:lnTo>
                  <a:pt x="0" y="1252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9500" y="3495559"/>
            <a:ext cx="8067161" cy="5949531"/>
          </a:xfrm>
          <a:custGeom>
            <a:avLst/>
            <a:gdLst/>
            <a:ahLst/>
            <a:cxnLst/>
            <a:rect r="r" b="b" t="t" l="l"/>
            <a:pathLst>
              <a:path h="5949531" w="8067161">
                <a:moveTo>
                  <a:pt x="0" y="0"/>
                </a:moveTo>
                <a:lnTo>
                  <a:pt x="8067161" y="0"/>
                </a:lnTo>
                <a:lnTo>
                  <a:pt x="8067161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37558" y="4836977"/>
            <a:ext cx="6367432" cy="163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84"/>
              </a:lnSpc>
              <a:spcBef>
                <a:spcPct val="0"/>
              </a:spcBef>
            </a:pPr>
            <a:r>
              <a:rPr lang="en-US" sz="56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Sist</a:t>
            </a: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ema In</a:t>
            </a: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te</a:t>
            </a: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gr</a:t>
            </a: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a</a:t>
            </a:r>
            <a:r>
              <a:rPr lang="en-US" b="true" sz="5600" strike="noStrike" u="none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do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37558" y="4193050"/>
            <a:ext cx="476467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DDF410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Arquitetura de Software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7036" y="1951123"/>
            <a:ext cx="3949507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suári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o envia comandos e vê o estado.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7036" y="1477878"/>
            <a:ext cx="402117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Fr</a:t>
            </a: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ontend (Vue)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2151" y="1967481"/>
            <a:ext cx="428196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REST: guarda co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mando e telemetria.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62151" y="1477878"/>
            <a:ext cx="428196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Ba</a:t>
            </a: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ckend (.NET)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79596" y="1967481"/>
            <a:ext cx="422144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Lê sensores, aplica regras, aciona o LED.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79596" y="1448350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ESP32 (firmw</a:t>
            </a: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are)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950824" y="3364103"/>
            <a:ext cx="3344146" cy="5894197"/>
          </a:xfrm>
          <a:custGeom>
            <a:avLst/>
            <a:gdLst/>
            <a:ahLst/>
            <a:cxnLst/>
            <a:rect r="r" b="b" t="t" l="l"/>
            <a:pathLst>
              <a:path h="5894197" w="3344146">
                <a:moveTo>
                  <a:pt x="0" y="0"/>
                </a:moveTo>
                <a:lnTo>
                  <a:pt x="3344146" y="0"/>
                </a:lnTo>
                <a:lnTo>
                  <a:pt x="3344146" y="5894197"/>
                </a:lnTo>
                <a:lnTo>
                  <a:pt x="0" y="5894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50824" y="1028700"/>
            <a:ext cx="7702050" cy="2020062"/>
            <a:chOff x="0" y="0"/>
            <a:chExt cx="10269400" cy="269341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06095"/>
              <a:ext cx="10269400" cy="2187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84"/>
                </a:lnSpc>
                <a:spcBef>
                  <a:spcPct val="0"/>
                </a:spcBef>
              </a:pPr>
              <a:r>
                <a:rPr lang="en-US" sz="5600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API</a:t>
              </a:r>
              <a:r>
                <a:rPr lang="en-US" b="true" sz="5600" strike="noStrike" u="none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 do </a:t>
              </a:r>
            </a:p>
            <a:p>
              <a:pPr algn="l" marL="0" indent="0" lvl="0">
                <a:lnSpc>
                  <a:spcPts val="6384"/>
                </a:lnSpc>
                <a:spcBef>
                  <a:spcPct val="0"/>
                </a:spcBef>
              </a:pPr>
              <a:r>
                <a:rPr lang="en-US" b="true" sz="5600" strike="noStrike" u="none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Backend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6352897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DF41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Arquitetura de Software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997716" y="971550"/>
            <a:ext cx="8261584" cy="742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GET /api/device/status : Frontend lê resumo do dispositivo.</a:t>
            </a:r>
          </a:p>
          <a:p>
            <a:pPr algn="l">
              <a:lnSpc>
                <a:spcPts val="3080"/>
              </a:lnSpc>
            </a:pP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GET /api/command : ESP32 consulta o comando atual (polling)</a:t>
            </a:r>
          </a:p>
          <a:p>
            <a:pPr algn="l">
              <a:lnSpc>
                <a:spcPts val="3080"/>
              </a:lnSpc>
            </a:pP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PUT /api/command : Frontend define modo e manualLampOn.</a:t>
            </a:r>
          </a:p>
          <a:p>
            <a:pPr algn="l">
              <a:lnSpc>
                <a:spcPts val="3080"/>
              </a:lnSpc>
            </a:pP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POST /api/command/auto : Volta ao modo automático </a:t>
            </a:r>
          </a:p>
          <a:p>
            <a:pPr algn="l">
              <a:lnSpc>
                <a:spcPts val="3080"/>
              </a:lnSpc>
            </a:pP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POST /api/command/manual : Ativa modo manual (lampOn=true/false)</a:t>
            </a:r>
          </a:p>
          <a:p>
            <a:pPr algn="l">
              <a:lnSpc>
                <a:spcPts val="3080"/>
              </a:lnSpc>
            </a:pP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POST /api/telemetry : ESP32 envia sensores e estado </a:t>
            </a:r>
          </a:p>
          <a:p>
            <a:pPr algn="l">
              <a:lnSpc>
                <a:spcPts val="3080"/>
              </a:lnSpc>
            </a:pP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GET /api/telemetry/latest : O Frontend consulta os dados dos sensores e o estado atual( último enviado pelo ESP32).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41950" y="1028700"/>
            <a:ext cx="7702050" cy="2020062"/>
            <a:chOff x="0" y="0"/>
            <a:chExt cx="10269400" cy="269341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06095"/>
              <a:ext cx="10269400" cy="2187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84"/>
                </a:lnSpc>
                <a:spcBef>
                  <a:spcPct val="0"/>
                </a:spcBef>
              </a:pPr>
              <a:r>
                <a:rPr lang="en-US" sz="5600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Prin</a:t>
              </a:r>
              <a:r>
                <a:rPr lang="en-US" b="true" sz="5600" strike="noStrike" u="none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cipais Implementações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6352897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DF41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Firmware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23232" y="3392924"/>
            <a:ext cx="416361" cy="416361"/>
          </a:xfrm>
          <a:custGeom>
            <a:avLst/>
            <a:gdLst/>
            <a:ahLst/>
            <a:cxnLst/>
            <a:rect r="r" b="b" t="t" l="l"/>
            <a:pathLst>
              <a:path h="416361" w="416361">
                <a:moveTo>
                  <a:pt x="0" y="0"/>
                </a:moveTo>
                <a:lnTo>
                  <a:pt x="416360" y="0"/>
                </a:lnTo>
                <a:lnTo>
                  <a:pt x="416360" y="416361"/>
                </a:lnTo>
                <a:lnTo>
                  <a:pt x="0" y="41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40767" y="3858114"/>
            <a:ext cx="3949507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iga quando i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sDark (LDR &gt; limiar) E houve movimento recente (PIR), e é o padrão quando não tem conexão Wi-fi.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0767" y="3384869"/>
            <a:ext cx="402117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egra automática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25882" y="3874472"/>
            <a:ext cx="428196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antém a lâ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mpada acesa por alguns segundos após o último movimento(7 segundos).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25882" y="3384869"/>
            <a:ext cx="428196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Desl</a:t>
            </a: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igamento por timeout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43328" y="3874472"/>
            <a:ext cx="422144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Consulta GET /api/command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pra aplicar mudanças feitas na web.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43328" y="3355341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Pollin</a:t>
            </a:r>
            <a:r>
              <a:rPr lang="en-US" b="true" sz="24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g de comandos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663115" y="3392924"/>
            <a:ext cx="416361" cy="416361"/>
          </a:xfrm>
          <a:custGeom>
            <a:avLst/>
            <a:gdLst/>
            <a:ahLst/>
            <a:cxnLst/>
            <a:rect r="r" b="b" t="t" l="l"/>
            <a:pathLst>
              <a:path h="416361" w="416361">
                <a:moveTo>
                  <a:pt x="0" y="0"/>
                </a:moveTo>
                <a:lnTo>
                  <a:pt x="416361" y="0"/>
                </a:lnTo>
                <a:lnTo>
                  <a:pt x="416361" y="416361"/>
                </a:lnTo>
                <a:lnTo>
                  <a:pt x="0" y="41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79317" y="3392924"/>
            <a:ext cx="416361" cy="416361"/>
          </a:xfrm>
          <a:custGeom>
            <a:avLst/>
            <a:gdLst/>
            <a:ahLst/>
            <a:cxnLst/>
            <a:rect r="r" b="b" t="t" l="l"/>
            <a:pathLst>
              <a:path h="416361" w="416361">
                <a:moveTo>
                  <a:pt x="0" y="0"/>
                </a:moveTo>
                <a:lnTo>
                  <a:pt x="416361" y="0"/>
                </a:lnTo>
                <a:lnTo>
                  <a:pt x="416361" y="416361"/>
                </a:lnTo>
                <a:lnTo>
                  <a:pt x="0" y="41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3232" y="6010275"/>
            <a:ext cx="416361" cy="416361"/>
          </a:xfrm>
          <a:custGeom>
            <a:avLst/>
            <a:gdLst/>
            <a:ahLst/>
            <a:cxnLst/>
            <a:rect r="r" b="b" t="t" l="l"/>
            <a:pathLst>
              <a:path h="416361" w="416361">
                <a:moveTo>
                  <a:pt x="0" y="0"/>
                </a:moveTo>
                <a:lnTo>
                  <a:pt x="416360" y="0"/>
                </a:lnTo>
                <a:lnTo>
                  <a:pt x="416360" y="416361"/>
                </a:lnTo>
                <a:lnTo>
                  <a:pt x="0" y="41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40767" y="6475464"/>
            <a:ext cx="3949507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Env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o forçado quando o estado muda (movimento / lâmpada).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40767" y="6002219"/>
            <a:ext cx="402117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Telemetria imediata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25882" y="6491823"/>
            <a:ext cx="428196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Wi-F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i reconecta </a:t>
            </a:r>
            <a:r>
              <a:rPr lang="en-US" sz="18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sem travar, logo, o modo automático nunca “trava”.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25882" y="6002219"/>
            <a:ext cx="428196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Tol</a:t>
            </a:r>
            <a:r>
              <a:rPr lang="en-US" b="true" sz="2100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</a:rPr>
              <a:t>erância a falhas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63115" y="6010275"/>
            <a:ext cx="416361" cy="416361"/>
          </a:xfrm>
          <a:custGeom>
            <a:avLst/>
            <a:gdLst/>
            <a:ahLst/>
            <a:cxnLst/>
            <a:rect r="r" b="b" t="t" l="l"/>
            <a:pathLst>
              <a:path h="416361" w="416361">
                <a:moveTo>
                  <a:pt x="0" y="0"/>
                </a:moveTo>
                <a:lnTo>
                  <a:pt x="416361" y="0"/>
                </a:lnTo>
                <a:lnTo>
                  <a:pt x="416361" y="416361"/>
                </a:lnTo>
                <a:lnTo>
                  <a:pt x="0" y="41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41950" y="3723695"/>
            <a:ext cx="9821997" cy="3822353"/>
          </a:xfrm>
          <a:custGeom>
            <a:avLst/>
            <a:gdLst/>
            <a:ahLst/>
            <a:cxnLst/>
            <a:rect r="r" b="b" t="t" l="l"/>
            <a:pathLst>
              <a:path h="3822353" w="9821997">
                <a:moveTo>
                  <a:pt x="0" y="0"/>
                </a:moveTo>
                <a:lnTo>
                  <a:pt x="9821997" y="0"/>
                </a:lnTo>
                <a:lnTo>
                  <a:pt x="9821997" y="3822354"/>
                </a:lnTo>
                <a:lnTo>
                  <a:pt x="0" y="3822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41950" y="1028700"/>
            <a:ext cx="7702050" cy="2020062"/>
            <a:chOff x="0" y="0"/>
            <a:chExt cx="10269400" cy="269341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06095"/>
              <a:ext cx="10269400" cy="2187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84"/>
                </a:lnSpc>
                <a:spcBef>
                  <a:spcPct val="0"/>
                </a:spcBef>
              </a:pPr>
              <a:r>
                <a:rPr lang="en-US" sz="5600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Nú</a:t>
              </a:r>
              <a:r>
                <a:rPr lang="en-US" b="true" sz="5600" strike="noStrike" u="none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cleo da </a:t>
              </a:r>
            </a:p>
            <a:p>
              <a:pPr algn="l" marL="0" indent="0" lvl="0">
                <a:lnSpc>
                  <a:spcPts val="6384"/>
                </a:lnSpc>
                <a:spcBef>
                  <a:spcPct val="0"/>
                </a:spcBef>
              </a:pPr>
              <a:r>
                <a:rPr lang="en-US" b="true" sz="5600" strike="noStrike" u="none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Lógica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6352897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DF41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Firmware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500722" y="2077429"/>
            <a:ext cx="4235504" cy="546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Como funciona: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6BB6E7"/>
                </a:solidFill>
                <a:latin typeface="Poppins"/>
                <a:ea typeface="Poppins"/>
                <a:cs typeface="Poppins"/>
                <a:sym typeface="Poppins"/>
              </a:rPr>
              <a:t>isDark </a:t>
            </a: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: ADC do LDR acima do limiar = ambiente escuro.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6BB6E7"/>
                </a:solidFill>
                <a:latin typeface="Poppins"/>
                <a:ea typeface="Poppins"/>
                <a:cs typeface="Poppins"/>
                <a:sym typeface="Poppins"/>
              </a:rPr>
              <a:t>recentlyMotion </a:t>
            </a: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: Houve presença dentro da janela de tempo. 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6BB6E7"/>
                </a:solidFill>
                <a:latin typeface="Poppins"/>
                <a:ea typeface="Poppins"/>
                <a:cs typeface="Poppins"/>
                <a:sym typeface="Poppins"/>
              </a:rPr>
              <a:t>target </a:t>
            </a: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: Só liga se escuro e ter movimento recente.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6BB6E7"/>
                </a:solidFill>
                <a:latin typeface="Poppins"/>
                <a:ea typeface="Poppins"/>
                <a:cs typeface="Poppins"/>
                <a:sym typeface="Poppins"/>
              </a:rPr>
              <a:t>setLamp </a:t>
            </a:r>
            <a:r>
              <a:rPr lang="en-US" sz="22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: Só atua quando o estado realmente muda.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3791706"/>
            <a:ext cx="6679807" cy="5466594"/>
          </a:xfrm>
          <a:custGeom>
            <a:avLst/>
            <a:gdLst/>
            <a:ahLst/>
            <a:cxnLst/>
            <a:rect r="r" b="b" t="t" l="l"/>
            <a:pathLst>
              <a:path h="5466594" w="6679807">
                <a:moveTo>
                  <a:pt x="0" y="0"/>
                </a:moveTo>
                <a:lnTo>
                  <a:pt x="6679807" y="0"/>
                </a:lnTo>
                <a:lnTo>
                  <a:pt x="6679807" y="5466594"/>
                </a:lnTo>
                <a:lnTo>
                  <a:pt x="0" y="5466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65445" y="1028700"/>
            <a:ext cx="7093855" cy="3626762"/>
          </a:xfrm>
          <a:custGeom>
            <a:avLst/>
            <a:gdLst/>
            <a:ahLst/>
            <a:cxnLst/>
            <a:rect r="r" b="b" t="t" l="l"/>
            <a:pathLst>
              <a:path h="3626762" w="7093855">
                <a:moveTo>
                  <a:pt x="0" y="0"/>
                </a:moveTo>
                <a:lnTo>
                  <a:pt x="7093855" y="0"/>
                </a:lnTo>
                <a:lnTo>
                  <a:pt x="7093855" y="3626762"/>
                </a:lnTo>
                <a:lnTo>
                  <a:pt x="0" y="3626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65445" y="5929421"/>
            <a:ext cx="7093855" cy="3328879"/>
          </a:xfrm>
          <a:custGeom>
            <a:avLst/>
            <a:gdLst/>
            <a:ahLst/>
            <a:cxnLst/>
            <a:rect r="r" b="b" t="t" l="l"/>
            <a:pathLst>
              <a:path h="3328879" w="7093855">
                <a:moveTo>
                  <a:pt x="0" y="0"/>
                </a:moveTo>
                <a:lnTo>
                  <a:pt x="7093855" y="0"/>
                </a:lnTo>
                <a:lnTo>
                  <a:pt x="7093855" y="3328879"/>
                </a:lnTo>
                <a:lnTo>
                  <a:pt x="0" y="3328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7702050" cy="2020062"/>
            <a:chOff x="0" y="0"/>
            <a:chExt cx="10269400" cy="269341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506095"/>
              <a:ext cx="10269400" cy="2187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84"/>
                </a:lnSpc>
                <a:spcBef>
                  <a:spcPct val="0"/>
                </a:spcBef>
              </a:pPr>
              <a:r>
                <a:rPr lang="en-US" sz="5600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L</a:t>
              </a:r>
              <a:r>
                <a:rPr lang="en-US" b="true" sz="5600" strike="noStrike" u="none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oop Principal e Sensores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6352897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DF41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Firmware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325125" y="2159273"/>
            <a:ext cx="11637749" cy="7099027"/>
          </a:xfrm>
          <a:custGeom>
            <a:avLst/>
            <a:gdLst/>
            <a:ahLst/>
            <a:cxnLst/>
            <a:rect r="r" b="b" t="t" l="l"/>
            <a:pathLst>
              <a:path h="7099027" w="11637749">
                <a:moveTo>
                  <a:pt x="0" y="0"/>
                </a:moveTo>
                <a:lnTo>
                  <a:pt x="11637750" y="0"/>
                </a:lnTo>
                <a:lnTo>
                  <a:pt x="11637750" y="7099027"/>
                </a:lnTo>
                <a:lnTo>
                  <a:pt x="0" y="709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325125" y="727537"/>
            <a:ext cx="11363563" cy="1210437"/>
            <a:chOff x="0" y="0"/>
            <a:chExt cx="15151417" cy="161391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06095"/>
              <a:ext cx="15151417" cy="1107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84"/>
                </a:lnSpc>
                <a:spcBef>
                  <a:spcPct val="0"/>
                </a:spcBef>
              </a:pPr>
              <a:r>
                <a:rPr lang="en-US" sz="5600">
                  <a:solidFill>
                    <a:srgbClr val="F5F5F5"/>
                  </a:solidFill>
                  <a:latin typeface="Glock Grotesk 2.0"/>
                  <a:ea typeface="Glock Grotesk 2.0"/>
                  <a:cs typeface="Glock Grotesk 2.0"/>
                  <a:sym typeface="Glock Grotesk 2.0"/>
                </a:rPr>
                <a:t>Dashboard Web (Vue)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6352897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DDF41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Interface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3462219" y="1057275"/>
            <a:ext cx="11363563" cy="163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Conclusão - Vídeo</a:t>
            </a:r>
          </a:p>
          <a:p>
            <a:pPr algn="ctr" marL="0" indent="0" lvl="0">
              <a:lnSpc>
                <a:spcPts val="6384"/>
              </a:lnSpc>
              <a:spcBef>
                <a:spcPct val="0"/>
              </a:spcBef>
            </a:pPr>
            <a:r>
              <a:rPr lang="en-US" sz="56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do funcionamento.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2084" y="5076825"/>
            <a:ext cx="106638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F5F5F5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youtube.com/watch?v=CipKNWwoO5Q"/>
              </a:rPr>
              <a:t>https://www.youtube.com/watch?v=CipKNWwoO5Q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3462219" y="1057275"/>
            <a:ext cx="11363563" cy="82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4"/>
              </a:lnSpc>
              <a:spcBef>
                <a:spcPct val="0"/>
              </a:spcBef>
            </a:pPr>
            <a:r>
              <a:rPr lang="en-US" sz="56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Conclusão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1217" y="3385185"/>
            <a:ext cx="1302556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Um sistema IoT</a:t>
            </a:r>
            <a:r>
              <a:rPr lang="en-US" sz="2400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funcional:</a:t>
            </a:r>
            <a:r>
              <a:rPr lang="en-US" sz="2400" u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firmware no ESP32, backend em .NET e dashboard em Vue, integrando PIR + LDR para automação contextual da iluminação com controle remoto.</a:t>
            </a:r>
          </a:p>
        </p:txBody>
      </p:sp>
      <p:sp>
        <p:nvSpPr>
          <p:cNvPr name="AutoShape 6" id="6"/>
          <p:cNvSpPr/>
          <p:nvPr/>
        </p:nvSpPr>
        <p:spPr>
          <a:xfrm>
            <a:off x="1290255" y="6927287"/>
            <a:ext cx="15774018" cy="0"/>
          </a:xfrm>
          <a:prstGeom prst="line">
            <a:avLst/>
          </a:prstGeom>
          <a:ln cap="flat" w="19050">
            <a:solidFill>
              <a:srgbClr val="DDF4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67109" y="6485091"/>
            <a:ext cx="846291" cy="846291"/>
          </a:xfrm>
          <a:custGeom>
            <a:avLst/>
            <a:gdLst/>
            <a:ahLst/>
            <a:cxnLst/>
            <a:rect r="r" b="b" t="t" l="l"/>
            <a:pathLst>
              <a:path h="846291" w="846291">
                <a:moveTo>
                  <a:pt x="0" y="0"/>
                </a:moveTo>
                <a:lnTo>
                  <a:pt x="846291" y="0"/>
                </a:lnTo>
                <a:lnTo>
                  <a:pt x="846291" y="846292"/>
                </a:lnTo>
                <a:lnTo>
                  <a:pt x="0" y="846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34830" y="6485091"/>
            <a:ext cx="846291" cy="846291"/>
          </a:xfrm>
          <a:custGeom>
            <a:avLst/>
            <a:gdLst/>
            <a:ahLst/>
            <a:cxnLst/>
            <a:rect r="r" b="b" t="t" l="l"/>
            <a:pathLst>
              <a:path h="846291" w="846291">
                <a:moveTo>
                  <a:pt x="0" y="0"/>
                </a:moveTo>
                <a:lnTo>
                  <a:pt x="846291" y="0"/>
                </a:lnTo>
                <a:lnTo>
                  <a:pt x="846291" y="846292"/>
                </a:lnTo>
                <a:lnTo>
                  <a:pt x="0" y="846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1644" y="6744762"/>
            <a:ext cx="417222" cy="326951"/>
          </a:xfrm>
          <a:custGeom>
            <a:avLst/>
            <a:gdLst/>
            <a:ahLst/>
            <a:cxnLst/>
            <a:rect r="r" b="b" t="t" l="l"/>
            <a:pathLst>
              <a:path h="326951" w="417222">
                <a:moveTo>
                  <a:pt x="0" y="0"/>
                </a:moveTo>
                <a:lnTo>
                  <a:pt x="417222" y="0"/>
                </a:lnTo>
                <a:lnTo>
                  <a:pt x="417222" y="326950"/>
                </a:lnTo>
                <a:lnTo>
                  <a:pt x="0" y="326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49364" y="6744762"/>
            <a:ext cx="417222" cy="326951"/>
          </a:xfrm>
          <a:custGeom>
            <a:avLst/>
            <a:gdLst/>
            <a:ahLst/>
            <a:cxnLst/>
            <a:rect r="r" b="b" t="t" l="l"/>
            <a:pathLst>
              <a:path h="326951" w="417222">
                <a:moveTo>
                  <a:pt x="0" y="0"/>
                </a:moveTo>
                <a:lnTo>
                  <a:pt x="417223" y="0"/>
                </a:lnTo>
                <a:lnTo>
                  <a:pt x="417223" y="326950"/>
                </a:lnTo>
                <a:lnTo>
                  <a:pt x="0" y="326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02550" y="6485091"/>
            <a:ext cx="846291" cy="846291"/>
          </a:xfrm>
          <a:custGeom>
            <a:avLst/>
            <a:gdLst/>
            <a:ahLst/>
            <a:cxnLst/>
            <a:rect r="r" b="b" t="t" l="l"/>
            <a:pathLst>
              <a:path h="846291" w="846291">
                <a:moveTo>
                  <a:pt x="0" y="0"/>
                </a:moveTo>
                <a:lnTo>
                  <a:pt x="846292" y="0"/>
                </a:lnTo>
                <a:lnTo>
                  <a:pt x="846292" y="846292"/>
                </a:lnTo>
                <a:lnTo>
                  <a:pt x="0" y="846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17085" y="6744762"/>
            <a:ext cx="417222" cy="326951"/>
          </a:xfrm>
          <a:custGeom>
            <a:avLst/>
            <a:gdLst/>
            <a:ahLst/>
            <a:cxnLst/>
            <a:rect r="r" b="b" t="t" l="l"/>
            <a:pathLst>
              <a:path h="326951" w="417222">
                <a:moveTo>
                  <a:pt x="0" y="0"/>
                </a:moveTo>
                <a:lnTo>
                  <a:pt x="417222" y="0"/>
                </a:lnTo>
                <a:lnTo>
                  <a:pt x="417222" y="326950"/>
                </a:lnTo>
                <a:lnTo>
                  <a:pt x="0" y="326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70271" y="6485091"/>
            <a:ext cx="846291" cy="846291"/>
          </a:xfrm>
          <a:custGeom>
            <a:avLst/>
            <a:gdLst/>
            <a:ahLst/>
            <a:cxnLst/>
            <a:rect r="r" b="b" t="t" l="l"/>
            <a:pathLst>
              <a:path h="846291" w="846291">
                <a:moveTo>
                  <a:pt x="0" y="0"/>
                </a:moveTo>
                <a:lnTo>
                  <a:pt x="846291" y="0"/>
                </a:lnTo>
                <a:lnTo>
                  <a:pt x="846291" y="846292"/>
                </a:lnTo>
                <a:lnTo>
                  <a:pt x="0" y="846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84805" y="6744762"/>
            <a:ext cx="417222" cy="326951"/>
          </a:xfrm>
          <a:custGeom>
            <a:avLst/>
            <a:gdLst/>
            <a:ahLst/>
            <a:cxnLst/>
            <a:rect r="r" b="b" t="t" l="l"/>
            <a:pathLst>
              <a:path h="326951" w="417222">
                <a:moveTo>
                  <a:pt x="0" y="0"/>
                </a:moveTo>
                <a:lnTo>
                  <a:pt x="417223" y="0"/>
                </a:lnTo>
                <a:lnTo>
                  <a:pt x="417223" y="326950"/>
                </a:lnTo>
                <a:lnTo>
                  <a:pt x="0" y="326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7604587"/>
            <a:ext cx="258051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ESP32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37660" y="7604587"/>
            <a:ext cx="224063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PIR</a:t>
            </a: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+ LDR</a:t>
            </a: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01426" y="7604587"/>
            <a:ext cx="301102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</a:t>
            </a: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odo Auto/Manual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16506" y="7755400"/>
            <a:ext cx="189553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Vue</a:t>
            </a: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+ .NET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641127" y="6485091"/>
            <a:ext cx="846291" cy="846291"/>
          </a:xfrm>
          <a:custGeom>
            <a:avLst/>
            <a:gdLst/>
            <a:ahLst/>
            <a:cxnLst/>
            <a:rect r="r" b="b" t="t" l="l"/>
            <a:pathLst>
              <a:path h="846291" w="846291">
                <a:moveTo>
                  <a:pt x="0" y="0"/>
                </a:moveTo>
                <a:lnTo>
                  <a:pt x="846292" y="0"/>
                </a:lnTo>
                <a:lnTo>
                  <a:pt x="846292" y="846292"/>
                </a:lnTo>
                <a:lnTo>
                  <a:pt x="0" y="846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855662" y="6763812"/>
            <a:ext cx="417222" cy="326951"/>
          </a:xfrm>
          <a:custGeom>
            <a:avLst/>
            <a:gdLst/>
            <a:ahLst/>
            <a:cxnLst/>
            <a:rect r="r" b="b" t="t" l="l"/>
            <a:pathLst>
              <a:path h="326951" w="417222">
                <a:moveTo>
                  <a:pt x="0" y="0"/>
                </a:moveTo>
                <a:lnTo>
                  <a:pt x="417222" y="0"/>
                </a:lnTo>
                <a:lnTo>
                  <a:pt x="417222" y="326950"/>
                </a:lnTo>
                <a:lnTo>
                  <a:pt x="0" y="326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30477" y="7756987"/>
            <a:ext cx="339622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HTTP/RE</a:t>
            </a:r>
            <a:r>
              <a:rPr lang="en-US" b="true" sz="2000">
                <a:solidFill>
                  <a:srgbClr val="F5F5F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 + JSON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652" y="-1270008"/>
            <a:ext cx="3918801" cy="4597417"/>
            <a:chOff x="0" y="0"/>
            <a:chExt cx="1272046" cy="1492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46" cy="1492325"/>
            </a:xfrm>
            <a:custGeom>
              <a:avLst/>
              <a:gdLst/>
              <a:ahLst/>
              <a:cxnLst/>
              <a:rect r="r" b="b" t="t" l="l"/>
              <a:pathLst>
                <a:path h="1492325" w="1272046">
                  <a:moveTo>
                    <a:pt x="1200460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93480"/>
                  </a:lnTo>
                  <a:cubicBezTo>
                    <a:pt x="565008" y="1112467"/>
                    <a:pt x="557466" y="1130676"/>
                    <a:pt x="544041" y="1144101"/>
                  </a:cubicBezTo>
                  <a:cubicBezTo>
                    <a:pt x="530615" y="1157527"/>
                    <a:pt x="512407" y="1165069"/>
                    <a:pt x="493420" y="1165069"/>
                  </a:cubicBezTo>
                  <a:lnTo>
                    <a:pt x="384777" y="1165069"/>
                  </a:lnTo>
                  <a:cubicBezTo>
                    <a:pt x="345240" y="1165069"/>
                    <a:pt x="313190" y="1197120"/>
                    <a:pt x="313190" y="1236656"/>
                  </a:cubicBezTo>
                  <a:lnTo>
                    <a:pt x="313190" y="1420738"/>
                  </a:lnTo>
                  <a:cubicBezTo>
                    <a:pt x="313190" y="1460274"/>
                    <a:pt x="345240" y="1492325"/>
                    <a:pt x="384777" y="1492325"/>
                  </a:cubicBezTo>
                  <a:lnTo>
                    <a:pt x="568858" y="1492325"/>
                  </a:lnTo>
                  <a:cubicBezTo>
                    <a:pt x="608395" y="1492325"/>
                    <a:pt x="640446" y="1460274"/>
                    <a:pt x="640446" y="1420738"/>
                  </a:cubicBezTo>
                  <a:lnTo>
                    <a:pt x="640446" y="1304956"/>
                  </a:lnTo>
                  <a:cubicBezTo>
                    <a:pt x="640446" y="1265419"/>
                    <a:pt x="672497" y="1233368"/>
                    <a:pt x="712033" y="1233368"/>
                  </a:cubicBezTo>
                  <a:lnTo>
                    <a:pt x="1200460" y="1233368"/>
                  </a:lnTo>
                  <a:cubicBezTo>
                    <a:pt x="1219446" y="1233368"/>
                    <a:pt x="1237654" y="1225826"/>
                    <a:pt x="1251079" y="1212401"/>
                  </a:cubicBezTo>
                  <a:cubicBezTo>
                    <a:pt x="1264504" y="1198976"/>
                    <a:pt x="1272046" y="1180768"/>
                    <a:pt x="1272046" y="1161782"/>
                  </a:cubicBezTo>
                  <a:lnTo>
                    <a:pt x="1272046" y="654050"/>
                  </a:lnTo>
                  <a:cubicBezTo>
                    <a:pt x="1272046" y="635064"/>
                    <a:pt x="1264504" y="616855"/>
                    <a:pt x="1251079" y="603430"/>
                  </a:cubicBezTo>
                  <a:cubicBezTo>
                    <a:pt x="1237654" y="590005"/>
                    <a:pt x="1219446" y="582463"/>
                    <a:pt x="1200460" y="582463"/>
                  </a:cubicBezTo>
                  <a:close/>
                </a:path>
              </a:pathLst>
            </a:custGeom>
            <a:solidFill>
              <a:srgbClr val="100F0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3462219" y="1057275"/>
            <a:ext cx="11363563" cy="82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4"/>
              </a:lnSpc>
              <a:spcBef>
                <a:spcPct val="0"/>
              </a:spcBef>
            </a:pPr>
            <a:r>
              <a:rPr lang="en-US" sz="5600">
                <a:solidFill>
                  <a:srgbClr val="F5F5F5"/>
                </a:solidFill>
                <a:latin typeface="Glock Grotesk 2.0"/>
                <a:ea typeface="Glock Grotesk 2.0"/>
                <a:cs typeface="Glock Grotesk 2.0"/>
                <a:sym typeface="Glock Grotesk 2.0"/>
              </a:rPr>
              <a:t>Referências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1217" y="3385185"/>
            <a:ext cx="13025566" cy="587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CAROL, Persis; RAJU, David Solomon. Automatic light system using LDR and PIR sensor. Journal of Emerging Technologies and Innovative Research (JETIR), v. 11, n. 8, ago. 2024. ISSN 2349-5162. Disponível em: </a:t>
            </a:r>
            <a:r>
              <a:rPr lang="en-US" b="true" sz="2400" u="sng">
                <a:solidFill>
                  <a:srgbClr val="F5F5F5"/>
                </a:solidFill>
                <a:latin typeface="Poppins Bold"/>
                <a:ea typeface="Poppins Bold"/>
                <a:cs typeface="Poppins Bold"/>
                <a:sym typeface="Poppins Bold"/>
                <a:hlinkClick r:id="rId2" tooltip="https://www.jetir.org/papers/JETIR2408497.pdf"/>
              </a:rPr>
              <a:t>U</a:t>
            </a:r>
            <a:r>
              <a:rPr lang="en-US" sz="2400" u="sng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  <a:hlinkClick r:id="rId3" tooltip="https://www.jetir.org/papers/JETIR2408497.pdf"/>
              </a:rPr>
              <a:t>m sistema IoT funcional:</a:t>
            </a:r>
            <a:r>
              <a:rPr lang="en-US" sz="2400" u="sng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  <a:hlinkClick r:id="rId4" tooltip="https://www.jetir.org/papers/JETIR2408497.pdf"/>
              </a:rPr>
              <a:t> firmware no ESP32, backend em .NET e dashboard em Vue, integrando PIR + LDR para automação contextual da iluminação com controle remoto.</a:t>
            </a: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. Acesso em: 8 maio 2026. 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GRAND VIEW RESEARCH. Smart lighting market (2023–2030): size, share &amp; trends analysis report by component (hardware, software, services), by connectivity (wired, wireless), by application (indoor, outdoor), by region, and segment forecasts. Report ID: GVR-4-68039-490-4. [S. l.], 2023. Disponível em: </a:t>
            </a:r>
            <a:r>
              <a:rPr lang="en-US" sz="2400" u="sng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  <a:hlinkClick r:id="rId5" tooltip="https://www.grandviewresearch.com/industry-analysis/global-smart-lighting-market"/>
              </a:rPr>
              <a:t>Um sistema IoT funcional: firmware no ESP32, backend em .NET e dashboard em Vue, integrando PIR + LDR para automação contextual da iluminação com controle remoto.</a:t>
            </a:r>
            <a:r>
              <a:rPr lang="en-US" sz="2400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 . Acesso em: 8 maio 2026.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DAHLu67GZ3k</dc:identifier>
  <dcterms:modified xsi:type="dcterms:W3CDTF">2011-08-01T06:04:30Z</dcterms:modified>
  <cp:revision>1</cp:revision>
  <dc:title>Black Yellow and Tan Modern Business Pitch Deck Presentation</dc:title>
</cp:coreProperties>
</file>